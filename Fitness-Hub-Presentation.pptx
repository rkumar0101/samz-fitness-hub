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5669280" y="457200"/>
            <a:ext cx="3200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85800"/>
            <a:ext cx="1463040" cy="27432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FITNESS HUB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 Hub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Gym Web Platform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6700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Train hard. Stay consistent. Get results.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310128"/>
            <a:ext cx="1554480" cy="274320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Next.js 16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31136" y="3310128"/>
            <a:ext cx="1554480" cy="274320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31136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React 19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13632" y="3310128"/>
            <a:ext cx="1554480" cy="274320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13632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Tailwind v4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96128" y="3310128"/>
            <a:ext cx="1554480" cy="274320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Gemini AI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278624" y="3310128"/>
            <a:ext cx="1554480" cy="274320"/>
          </a:xfrm>
          <a:prstGeom prst="rect">
            <a:avLst>
              <a:gd name="adj" fmla="val 50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78624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Framer Motion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Walkthrough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Fitness Hub?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full-featured gym landing website built to convert visitors into members via WhatsApp.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920240" cy="26060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2402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Gym Landing Site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2633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Marketing website for a local fitness gym with all conversion-focused sections.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1664208"/>
            <a:ext cx="1920240" cy="26060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8288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0048" y="22402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Plan Generator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70048" y="2633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Google Gemini API powers a personalized workout plan builder with PDF export.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63440" y="1664208"/>
            <a:ext cx="1920240" cy="26060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73168" y="22402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WhatsApp-First CTA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73168" y="2633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All major CTAs route to WhatsApp for instant engagement and lead capture.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766560" y="1664208"/>
            <a:ext cx="1920240" cy="26060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82880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76288" y="224028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Lead Capture API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876288" y="2633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REST API routes collect user details before plan download via consent gate.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" y="4434840"/>
            <a:ext cx="8229600" cy="530352"/>
          </a:xfrm>
          <a:prstGeom prst="rect">
            <a:avLst>
              <a:gd name="adj" fmla="val 13793"/>
            </a:avLst>
          </a:prstGeom>
          <a:solidFill>
            <a:srgbClr val="070B12"/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" y="4434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Tech Stack:  Next.js 16  •  React 19  •  TypeScript  •  Tailwind CSS v4  •  Framer Motion  •  Google Gemini AI  •  Three.js / R3F  •  Vercel Analytics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 Section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B4CC"/>
                </a:solidFill>
              </a:rPr>
              <a:t>Animated landing block with trust signals and WhatsApp CTA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763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600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Framer Motion entrance animations (opacity + slide-up)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05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Auto-rotating image carousel with gym photos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WhatsApp deep-link CTA: pre-filled message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3639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Trust chips: Beginner-friendly, Trainer guidance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3931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Responsive grid: mobile &amp; desktop optimized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120640" y="530352"/>
            <a:ext cx="3657600" cy="4160520"/>
          </a:xfrm>
          <a:prstGeom prst="rect">
            <a:avLst>
              <a:gd name="adj" fmla="val 2000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212080" y="713232"/>
            <a:ext cx="3474720" cy="1371600"/>
          </a:xfrm>
          <a:prstGeom prst="rect">
            <a:avLst>
              <a:gd name="adj" fmla="val 4000"/>
            </a:avLst>
          </a:prstGeom>
          <a:solidFill>
            <a:srgbClr val="0B1A2E"/>
          </a:solidFill>
          <a:ln/>
        </p:spPr>
      </p:sp>
      <p:sp>
        <p:nvSpPr>
          <p:cNvPr id="20" name="Text 13"/>
          <p:cNvSpPr/>
          <p:nvPr/>
        </p:nvSpPr>
        <p:spPr>
          <a:xfrm>
            <a:off x="5303520" y="777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 hard. Stay consistent.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303520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Get results.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212080" y="2240280"/>
            <a:ext cx="1600200" cy="347472"/>
          </a:xfrm>
          <a:prstGeom prst="rect">
            <a:avLst>
              <a:gd name="adj" fmla="val 21053"/>
            </a:avLst>
          </a:prstGeom>
          <a:solidFill>
            <a:srgbClr val="DC2626"/>
          </a:solidFill>
          <a:ln/>
        </p:spPr>
      </p:sp>
      <p:sp>
        <p:nvSpPr>
          <p:cNvPr id="23" name="Text 16"/>
          <p:cNvSpPr/>
          <p:nvPr/>
        </p:nvSpPr>
        <p:spPr>
          <a:xfrm>
            <a:off x="5212080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 on WhatsApp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03720" y="2240280"/>
            <a:ext cx="1097280" cy="347472"/>
          </a:xfrm>
          <a:prstGeom prst="rect">
            <a:avLst>
              <a:gd name="adj" fmla="val 21053"/>
            </a:avLst>
          </a:prstGeom>
          <a:solidFill>
            <a:srgbClr val="0B1220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90372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View plans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212080" y="2743200"/>
            <a:ext cx="1078992" cy="237744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212080" y="274320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Strength + Cardio</a:t>
            </a:r>
            <a:endParaRPr lang="en-US" sz="700" dirty="0"/>
          </a:p>
        </p:txBody>
      </p:sp>
      <p:sp>
        <p:nvSpPr>
          <p:cNvPr id="28" name="Shape 21"/>
          <p:cNvSpPr/>
          <p:nvPr/>
        </p:nvSpPr>
        <p:spPr>
          <a:xfrm>
            <a:off x="6382512" y="2743200"/>
            <a:ext cx="1078992" cy="237744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82512" y="274320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Beginner-friendly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7552944" y="2743200"/>
            <a:ext cx="1078992" cy="237744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552944" y="274320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Trainer guidance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521208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A0C0"/>
                </a:solidFill>
              </a:rPr>
              <a:t>Fast reply on WhatsApp • Trial first • No pressure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327648" y="43891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Shape 27"/>
          <p:cNvSpPr/>
          <p:nvPr/>
        </p:nvSpPr>
        <p:spPr>
          <a:xfrm>
            <a:off x="6601968" y="4389120"/>
            <a:ext cx="109728" cy="1097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6876288" y="4389120"/>
            <a:ext cx="109728" cy="1097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Stats Section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Animated count-up stats visible on scroll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20240" cy="23774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Open Hours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2212848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AM – 10 PM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66928" y="2834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Mon–Sat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508760"/>
            <a:ext cx="1920240" cy="23774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50876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71907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896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Equipment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70048" y="2212848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2670048" y="2834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Strength + cardio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63440" y="1508760"/>
            <a:ext cx="1920240" cy="23774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50876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1907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Trainers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73168" y="2212848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4773168" y="2834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Guidance available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766560" y="1508760"/>
            <a:ext cx="1920240" cy="237744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150876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71907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Trial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76288" y="2212848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6876288" y="28346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WhatsApp to book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57200" y="4041648"/>
            <a:ext cx="8229600" cy="566928"/>
          </a:xfrm>
          <a:prstGeom prst="rect">
            <a:avLst>
              <a:gd name="adj" fmla="val 12903"/>
            </a:avLst>
          </a:prstGeom>
          <a:solidFill>
            <a:srgbClr val="070B1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6966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40416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</a:rPr>
              <a:t>Scroll-triggered count-up animation  •  Uses useInView + requestAnimationFrame  •  Glow shadow per accent color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Facilities Showcase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Interactive card grid with live image preview panel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733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Clean Equipment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075688"/>
            <a:ext cx="914400" cy="219456"/>
          </a:xfrm>
          <a:prstGeom prst="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075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Top priority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52928" y="1508760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52928" y="1508760"/>
            <a:ext cx="45720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6733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Lockers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075688"/>
            <a:ext cx="914400" cy="219456"/>
          </a:xfrm>
          <a:prstGeom prst="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075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Pro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48656" y="1508760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48656" y="1508760"/>
            <a:ext cx="45720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13248" y="16733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Cardio Zone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13248" y="2075688"/>
            <a:ext cx="914400" cy="219456"/>
          </a:xfrm>
          <a:prstGeom prst="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13248" y="2075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Popular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90088"/>
            <a:ext cx="45720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Strength Zone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" y="3557016"/>
            <a:ext cx="914400" cy="219456"/>
          </a:xfrm>
          <a:prstGeom prst="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557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Most used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52928" y="2990088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852928" y="2990088"/>
            <a:ext cx="45720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Stretch Area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3557016"/>
            <a:ext cx="914400" cy="219456"/>
          </a:xfrm>
          <a:prstGeom prst="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3557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Core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248656" y="2990088"/>
            <a:ext cx="2148840" cy="1261872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48656" y="2990088"/>
            <a:ext cx="45720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413248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Guided Sessions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13248" y="3557016"/>
            <a:ext cx="914400" cy="219456"/>
          </a:xfrm>
          <a:prstGeom prst="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13248" y="3557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Pro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89520" y="1481328"/>
            <a:ext cx="1188720" cy="3291840"/>
          </a:xfrm>
          <a:prstGeom prst="rect">
            <a:avLst>
              <a:gd name="adj" fmla="val 6154"/>
            </a:avLst>
          </a:prstGeom>
          <a:solidFill>
            <a:srgbClr val="070B12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0" y="219456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A0C0"/>
                </a:solidFill>
              </a:rPr>
              <a:t>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A0C0"/>
                </a:solidFill>
              </a:rPr>
              <a:t>Preview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A0C0"/>
                </a:solidFill>
              </a:rPr>
              <a:t>Panel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9480" y="3035808"/>
            <a:ext cx="2743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Hover or tap a card → image swaps in the preview panel (AnimatePresence)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417320" cy="256032"/>
          </a:xfrm>
          <a:prstGeom prst="rect">
            <a:avLst>
              <a:gd name="adj" fmla="val 50000"/>
            </a:avLst>
          </a:prstGeom>
          <a:solidFill>
            <a:srgbClr val="DC262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FEATURE 4 — STAR FEATURE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Plan Builder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84048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B4CC"/>
                </a:solidFill>
              </a:rPr>
              <a:t>Powered by Google Gemini AI  •  3-step wizard  •  PDF export with lead gate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2560320" cy="3017520"/>
          </a:xfrm>
          <a:prstGeom prst="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572768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1682496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— Your Basics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066544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0665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Goal (Fat loss / Muscle / etc.)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2414016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41401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Experience level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76148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Days/week + Session time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" y="3108960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Equipment access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" y="3456432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45643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Injuries &amp; Diet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66928" y="3803904"/>
            <a:ext cx="234086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80390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Preferred time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246120" y="1572768"/>
            <a:ext cx="2560320" cy="3017520"/>
          </a:xfrm>
          <a:prstGeom prst="rect">
            <a:avLst>
              <a:gd name="adj" fmla="val 285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46120" y="1572768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3355848" y="1682496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— Generate Plan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55848" y="208483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A0C0"/>
                </a:solidFill>
              </a:rPr>
              <a:t>Inputs summary review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355848" y="2487168"/>
            <a:ext cx="2340864" cy="777240"/>
          </a:xfrm>
          <a:prstGeom prst="rect">
            <a:avLst>
              <a:gd name="adj" fmla="val 7059"/>
            </a:avLst>
          </a:prstGeom>
          <a:solidFill>
            <a:srgbClr val="0A1628"/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47288" y="2542032"/>
            <a:ext cx="2157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/api/plan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Gemini gemini-3-flash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JSON workout plan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355848" y="333756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8E0"/>
                </a:solidFill>
              </a:rPr>
              <a:t>Generates: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8E0"/>
                </a:solidFill>
              </a:rPr>
              <a:t>• Weekly 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8E0"/>
                </a:solidFill>
              </a:rPr>
              <a:t>• Workout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8E0"/>
                </a:solidFill>
              </a:rPr>
              <a:t>• Nutrition basics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8E0"/>
                </a:solidFill>
              </a:rPr>
              <a:t>• 4-week progression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35040" y="1572768"/>
            <a:ext cx="2743200" cy="3017520"/>
          </a:xfrm>
          <a:prstGeom prst="rect">
            <a:avLst>
              <a:gd name="adj" fmla="val 266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0" y="1572768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6144768" y="168249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— Download Report</a:t>
            </a:r>
            <a:endParaRPr lang="en-US" sz="11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57400"/>
            <a:ext cx="4572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44768" y="2084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A0C0"/>
                </a:solidFill>
              </a:rPr>
              <a:t>Lead gate modal: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144768" y="2395728"/>
            <a:ext cx="252374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36208" y="2395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Name (optional)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144768" y="2743200"/>
            <a:ext cx="252374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236208" y="27432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Phone (required)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144768" y="3090672"/>
            <a:ext cx="252374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36208" y="3090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WhatsApp consent ✓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144768" y="3438144"/>
            <a:ext cx="2523744" cy="274320"/>
          </a:xfrm>
          <a:prstGeom prst="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236208" y="343814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</a:rPr>
              <a:t>→ POST /api/leads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6144768" y="38404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A0C0"/>
                </a:solidFill>
              </a:rPr>
              <a:t>Opens print-to-PDF window with full styled report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Progress indicator animates across all 3 steps using Framer Motion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Plans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3 categories × 3 tiers × 3 billing cycles with live savings calculator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691640" cy="347472"/>
          </a:xfrm>
          <a:prstGeom prst="rect">
            <a:avLst>
              <a:gd name="adj" fmla="val 21053"/>
            </a:avLst>
          </a:prstGeom>
          <a:solidFill>
            <a:srgbClr val="070B1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Gym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481328"/>
            <a:ext cx="1691640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4813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Gym + 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481328"/>
            <a:ext cx="1691640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4813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Transformation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81328"/>
            <a:ext cx="804672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8132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Monthly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1481328"/>
            <a:ext cx="804672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48132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Quarterly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0" y="1481328"/>
            <a:ext cx="804672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48132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Yearly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993392"/>
            <a:ext cx="2606040" cy="2633472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Starter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2487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₹2,699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 Quarterly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" y="4160520"/>
            <a:ext cx="2286000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WhatsApp for Starter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993392"/>
            <a:ext cx="2606040" cy="2633472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993392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057400"/>
            <a:ext cx="1005840" cy="256032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56432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56432" y="2487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₹3,299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456432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 Quarterly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56432" y="4160520"/>
            <a:ext cx="2286000" cy="347472"/>
          </a:xfrm>
          <a:prstGeom prst="rect">
            <a:avLst>
              <a:gd name="adj" fmla="val 21053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WhatsApp for Value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1993392"/>
            <a:ext cx="2606040" cy="2633472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91072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91072" y="2487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₹4,299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91072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 Quarterly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1072" y="4160520"/>
            <a:ext cx="2286000" cy="347472"/>
          </a:xfrm>
          <a:prstGeom prst="rect">
            <a:avLst>
              <a:gd name="adj" fmla="val 2105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WhatsApp for Pro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Savings automatically calculated vs monthly rate  •  Plan comparison toggle available  •  WhatsApp deep-link per plan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Trainer Profiles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Hover-to-preview + click-to-lock interactive trainer selector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291840" cy="713232"/>
          </a:xfrm>
          <a:prstGeom prst="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3677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Arjun Verma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892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Strength &amp; Technique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728216"/>
            <a:ext cx="621792" cy="256032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7282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6+ yrs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3291840" cy="713232"/>
          </a:xfrm>
          <a:prstGeom prst="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Riya Singh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07008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Fat loss &amp; Conditioning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2532888"/>
            <a:ext cx="621792" cy="256032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53288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5+ yrs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3291840" cy="713232"/>
          </a:xfrm>
          <a:prstGeom prst="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Karan Mehta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3502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Muscle Gain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17520" y="3337560"/>
            <a:ext cx="621792" cy="256032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333756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7+ yrs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922776"/>
            <a:ext cx="3291840" cy="713232"/>
          </a:xfrm>
          <a:prstGeom prst="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4014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Neha Sharma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07008" y="43068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Mobility &amp; Recovery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4142232"/>
            <a:ext cx="621792" cy="256032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41422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4+ yrs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77640" y="1508760"/>
            <a:ext cx="480060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77640" y="1508760"/>
            <a:ext cx="4800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160520" y="1664208"/>
            <a:ext cx="713232" cy="713232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16642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83480" y="17190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Arjun Verma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20848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Strength &amp; Technique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69080" y="2487168"/>
            <a:ext cx="4617720" cy="896112"/>
          </a:xfrm>
          <a:prstGeom prst="rect">
            <a:avLst>
              <a:gd name="adj" fmla="val 61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7952" y="2542032"/>
            <a:ext cx="4407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Form-first coaching. Simple tracking. Consistent overload without injury.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69080" y="3493008"/>
            <a:ext cx="146304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06908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Squat / deadlift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41848" y="3493008"/>
            <a:ext cx="146304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641848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Beginner form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14616" y="3493008"/>
            <a:ext cx="146304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214616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Progression</a:t>
            </a:r>
            <a:endParaRPr lang="en-US" sz="8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3886200"/>
            <a:ext cx="256032" cy="256032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443984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Mornings  •  Mon–Sat</a:t>
            </a:r>
            <a:endParaRPr lang="en-US" sz="100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4206240"/>
            <a:ext cx="256032" cy="256032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443984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CPT  •  Strength coach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Hover preview updates in real-time  •  Click locks selection  •  Mobile expands inline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Schedule Planner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B4CC"/>
                </a:solidFill>
              </a:rPr>
              <a:t>Goal-based slot recommendations with crowd level indicators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291840" cy="3337560"/>
          </a:xfrm>
          <a:prstGeom prst="rect">
            <a:avLst>
              <a:gd name="adj" fmla="val 2222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1907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 Hours  6 AM – 10 PM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82496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4360" y="2176272"/>
            <a:ext cx="1444752" cy="292608"/>
          </a:xfrm>
          <a:prstGeom prst="rect">
            <a:avLst>
              <a:gd name="adj" fmla="val 25000"/>
            </a:avLst>
          </a:prstGeom>
          <a:solidFill>
            <a:srgbClr val="2563EB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1762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Morning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67128" y="2176272"/>
            <a:ext cx="1444752" cy="292608"/>
          </a:xfrm>
          <a:prstGeom prst="rect">
            <a:avLst>
              <a:gd name="adj" fmla="val 25000"/>
            </a:avLst>
          </a:prstGeom>
          <a:solidFill>
            <a:srgbClr val="0B1220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67128" y="21762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Evening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" y="259689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What's your focus?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2907792"/>
            <a:ext cx="1444752" cy="292608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9077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Beginner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167128" y="2907792"/>
            <a:ext cx="1444752" cy="292608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67128" y="29077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Strength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" y="3273552"/>
            <a:ext cx="1444752" cy="292608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273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Fat loss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167128" y="3273552"/>
            <a:ext cx="1444752" cy="292608"/>
          </a:xfrm>
          <a:prstGeom prst="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67128" y="32735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Cardio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" y="3730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A0C0"/>
                </a:solidFill>
              </a:rPr>
              <a:t>Crowd: 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97280" y="3730752"/>
            <a:ext cx="685800" cy="228600"/>
          </a:xfrm>
          <a:prstGeom prst="rect">
            <a:avLst>
              <a:gd name="adj" fmla="val 48000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97280" y="37307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Quiet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883664" y="3730752"/>
            <a:ext cx="685800" cy="228600"/>
          </a:xfrm>
          <a:prstGeom prst="rect">
            <a:avLst>
              <a:gd name="adj" fmla="val 48000"/>
            </a:avLst>
          </a:prstGeom>
          <a:solidFill>
            <a:srgbClr val="64748B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883664" y="37307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Normal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670048" y="3730752"/>
            <a:ext cx="685800" cy="228600"/>
          </a:xfrm>
          <a:prstGeom prst="rect">
            <a:avLst>
              <a:gd name="adj" fmla="val 48000"/>
            </a:avLst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2670048" y="373075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Peak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977640" y="1536192"/>
            <a:ext cx="4800600" cy="987552"/>
          </a:xfrm>
          <a:prstGeom prst="rect">
            <a:avLst>
              <a:gd name="adj" fmla="val 740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977640" y="1536192"/>
            <a:ext cx="4800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4133088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6:00 AM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133088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General training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132320" y="1719072"/>
            <a:ext cx="1371600" cy="256032"/>
          </a:xfrm>
          <a:prstGeom prst="rect">
            <a:avLst>
              <a:gd name="adj" fmla="val 50000"/>
            </a:avLst>
          </a:prstGeom>
          <a:solidFill>
            <a:srgbClr val="64748B">
              <a:alpha val="2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13232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132320" y="2048256"/>
            <a:ext cx="1371600" cy="256032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7132320" y="2048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Recommended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977640" y="2651760"/>
            <a:ext cx="4800600" cy="987552"/>
          </a:xfrm>
          <a:prstGeom prst="rect">
            <a:avLst>
              <a:gd name="adj" fmla="val 740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133088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7:30 AM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133088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Strength focus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132320" y="2834640"/>
            <a:ext cx="1371600" cy="256032"/>
          </a:xfrm>
          <a:prstGeom prst="rect">
            <a:avLst>
              <a:gd name="adj" fmla="val 50000"/>
            </a:avLst>
          </a:prstGeom>
          <a:solidFill>
            <a:srgbClr val="DC2626">
              <a:alpha val="2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13232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Peak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977640" y="3767328"/>
            <a:ext cx="4800600" cy="987552"/>
          </a:xfrm>
          <a:prstGeom prst="rect">
            <a:avLst>
              <a:gd name="adj" fmla="val 7407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133088" y="3877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 AM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133088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Cardio + Core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132320" y="3950208"/>
            <a:ext cx="137160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25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13232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Quiet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Recommendation algorithm: filters by goal, sorts by crowd level (Quiet → Normal → Peak)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FEATURES 8 –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Reviews, FAQ &amp; How to Start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Member Reviews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749040" cy="12344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64208"/>
            <a:ext cx="237744" cy="23774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237744" cy="237744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66420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792" y="1975104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"Good trainers and clean equipment. Easy to stay consistent."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617720" y="1536192"/>
            <a:ext cx="3749040" cy="123444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664208"/>
            <a:ext cx="237744" cy="237744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664208"/>
            <a:ext cx="237744" cy="237744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166420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82312" y="1975104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"Guidance is the best part. Feels premium, not crowded."</a:t>
            </a:r>
            <a:endParaRPr lang="en-US" sz="950" dirty="0"/>
          </a:p>
        </p:txBody>
      </p:sp>
      <p:sp>
        <p:nvSpPr>
          <p:cNvPr id="16" name="Text 8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FAQ (Accordion)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457200" y="3291840"/>
            <a:ext cx="530352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621792" y="3346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Do you offer a free trial?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621792" y="36027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Yes. WhatsApp us to schedule based on your preferred time.</a:t>
            </a:r>
            <a:endParaRPr lang="en-US" sz="850" dirty="0"/>
          </a:p>
        </p:txBody>
      </p:sp>
      <p:sp>
        <p:nvSpPr>
          <p:cNvPr id="20" name="Shape 12"/>
          <p:cNvSpPr/>
          <p:nvPr/>
        </p:nvSpPr>
        <p:spPr>
          <a:xfrm>
            <a:off x="457200" y="3950208"/>
            <a:ext cx="530352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621792" y="4005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Beginner friendly hai?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21792" y="42611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Yes. We guide basic form and a simple routine.</a:t>
            </a:r>
            <a:endParaRPr lang="en-US" sz="850" dirty="0"/>
          </a:p>
        </p:txBody>
      </p:sp>
      <p:sp>
        <p:nvSpPr>
          <p:cNvPr id="23" name="Text 15"/>
          <p:cNvSpPr/>
          <p:nvPr/>
        </p:nvSpPr>
        <p:spPr>
          <a:xfrm>
            <a:off x="594360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How to Start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943600" y="3291840"/>
            <a:ext cx="28346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5943600" y="329184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18"/>
          <p:cNvSpPr/>
          <p:nvPr/>
        </p:nvSpPr>
        <p:spPr>
          <a:xfrm>
            <a:off x="6053328" y="343814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19"/>
          <p:cNvSpPr/>
          <p:nvPr/>
        </p:nvSpPr>
        <p:spPr>
          <a:xfrm>
            <a:off x="6053328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6419088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WhatsApp us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19088" y="3611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Share goal + preferred timing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5943600" y="3950208"/>
            <a:ext cx="28346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943600" y="3950208"/>
            <a:ext cx="4572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Shape 24"/>
          <p:cNvSpPr/>
          <p:nvPr/>
        </p:nvSpPr>
        <p:spPr>
          <a:xfrm>
            <a:off x="6053328" y="409651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25"/>
          <p:cNvSpPr/>
          <p:nvPr/>
        </p:nvSpPr>
        <p:spPr>
          <a:xfrm>
            <a:off x="6053328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419088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Take a trial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419088" y="4270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Quick orientation session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943600" y="4608576"/>
            <a:ext cx="28346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943600" y="4608576"/>
            <a:ext cx="45720" cy="5669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Shape 30"/>
          <p:cNvSpPr/>
          <p:nvPr/>
        </p:nvSpPr>
        <p:spPr>
          <a:xfrm>
            <a:off x="6053328" y="475488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1"/>
          <p:cNvSpPr/>
          <p:nvPr/>
        </p:nvSpPr>
        <p:spPr>
          <a:xfrm>
            <a:off x="6053328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419088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Start plan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6419088" y="4928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 routine you can actually follow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417320" cy="256032"/>
          </a:xfrm>
          <a:prstGeom prst="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FEATURES 11 –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Integration &amp; Location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069080" cy="3474720"/>
          </a:xfrm>
          <a:prstGeom prst="rect">
            <a:avLst>
              <a:gd name="adj" fmla="val 2105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40690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WhatsApp-First Strategy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659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Deep-links with pre-filled messages per section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048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Hero CTA: goal + preferred time template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4378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2816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Plan CTA: plan name + billing period + price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28269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32688" y="32552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Location CTA: free trial request message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72160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32688" y="3694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FloatingWhatsApp component (built, ready to enable)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160520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32688" y="41330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B0"/>
                </a:solidFill>
              </a:rPr>
              <a:t>Lead capture via /api/leads before PDF download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4754880" y="1261872"/>
            <a:ext cx="4023360" cy="3474720"/>
          </a:xfrm>
          <a:prstGeom prst="rect">
            <a:avLst>
              <a:gd name="adj" fmla="val 2105"/>
            </a:avLst>
          </a:prstGeom>
          <a:solidFill>
            <a:srgbClr val="0B122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4754880" y="1261872"/>
            <a:ext cx="402336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1417320"/>
            <a:ext cx="411480" cy="4114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4068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Location &amp; Contact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4919472" y="1938528"/>
            <a:ext cx="3694176" cy="1737360"/>
          </a:xfrm>
          <a:prstGeom prst="rect">
            <a:avLst>
              <a:gd name="adj" fmla="val 3158"/>
            </a:avLst>
          </a:prstGeom>
          <a:solidFill>
            <a:srgbClr val="0A1628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4919472" y="1938528"/>
            <a:ext cx="3694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 Google Maps Embed ]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4919472" y="37856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Hours: Mon–Sat 6AM–10PM  •  Sun 7AM–12PM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4919472" y="41056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Address configurable via constants.ts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4919472" y="442569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WhatsApp trial booking CTA embedded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1732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Production-ready tools for performance, DX, and conversion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2821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600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Next.js 16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24128" y="1892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App Router, API routes, Node runtime, image optimization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508760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728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600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React 19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321808" y="1892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Latest React with concurrent features and hooks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2350008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350008"/>
            <a:ext cx="45720" cy="71323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94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441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TypeScript 5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024128" y="2734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Full type safety across all components and API routes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754880" y="2350008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350008"/>
            <a:ext cx="45720" cy="71323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56946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21808" y="2441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Tailwind CSS v4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321808" y="2734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Utility-first CSS with custom CSS variables for brand colors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57200" y="3191256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3191256"/>
            <a:ext cx="45720" cy="71323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41071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3282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Framer Motion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024128" y="35753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Scroll animations, AnimatePresence transitions, count-up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754880" y="3191256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191256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1071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21808" y="3282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Google Gemini AI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321808" y="35753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Generative AI for personalized workout plan creation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57200" y="4032504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7200" y="4032504"/>
            <a:ext cx="45720" cy="71323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25196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24128" y="41239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Three.js / R3F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1024128" y="4416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3D capabilities via @react-three/fiber and drei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4754880" y="4032504"/>
            <a:ext cx="40233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754880" y="4032504"/>
            <a:ext cx="45720" cy="7132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25196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321808" y="41239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Vercel Analytics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5321808" y="4416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Production traffic analytics with @vercel/analytics</a:t>
            </a:r>
            <a:endParaRPr lang="en-US" sz="850" dirty="0"/>
          </a:p>
        </p:txBody>
      </p:sp>
      <p:sp>
        <p:nvSpPr>
          <p:cNvPr id="46" name="Shape 36"/>
          <p:cNvSpPr/>
          <p:nvPr/>
        </p:nvSpPr>
        <p:spPr>
          <a:xfrm>
            <a:off x="457200" y="4663440"/>
            <a:ext cx="8229600" cy="347472"/>
          </a:xfrm>
          <a:prstGeom prst="rect">
            <a:avLst>
              <a:gd name="adj" fmla="val 15789"/>
            </a:avLst>
          </a:prstGeom>
          <a:solidFill>
            <a:srgbClr val="070B12"/>
          </a:solidFill>
          <a:ln/>
        </p:spPr>
      </p:sp>
      <p:sp>
        <p:nvSpPr>
          <p:cNvPr id="47" name="Text 37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All dependencies configured for Vercel deployment  •  .env.local for API keys  •  ESLint + TypeScript strict mode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3200400" cy="32004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4114800" y="365760"/>
            <a:ext cx="43891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Features at a Glance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326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Hero Section — Animated landing with WhatsApp CTA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3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Stats — Scroll-triggered count-up animation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0078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Facilities — Interactive card + image preview panel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08483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2048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AI Plan Builder — Gemini AI, 3-step, PDF + lead gate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46888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Pricing Plans — 3 categories, savings calculator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852928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22960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Trainers — Hover/lock interactive profile selector</a:t>
            </a:r>
            <a:endParaRPr lang="en-US" sz="9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932688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2064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Smart Schedule — Goal-based slot recommender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316736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20640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Reviews — Member testimonials grid</a:t>
            </a:r>
            <a:endParaRPr lang="en-US" sz="9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1700784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2064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How to Start — 3-step onboarding guide</a:t>
            </a:r>
            <a:endParaRPr lang="en-US" sz="9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084832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20640" y="2048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Location — Map embed + WhatsApp CTA</a:t>
            </a:r>
            <a:endParaRPr lang="en-US" sz="9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468880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20640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FAQ — Accordion with bilingual questions</a:t>
            </a:r>
            <a:endParaRPr lang="en-US" sz="9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2852928"/>
            <a:ext cx="201168" cy="201168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5120640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4"/>
                </a:solidFill>
              </a:rPr>
              <a:t>WhatsApp Integration — Deep-link CTAs sitewide</a:t>
            </a:r>
            <a:endParaRPr lang="en-US" sz="950" dirty="0"/>
          </a:p>
        </p:txBody>
      </p:sp>
      <p:sp>
        <p:nvSpPr>
          <p:cNvPr id="32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1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Fitness Hub  •  Built with Next.js + Gemini AI  •  Ready to Launch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Hub — Web Platform Presentation</dc:title>
  <dc:subject>PptxGenJS Presentation</dc:subject>
  <dc:creator>Rishav</dc:creator>
  <cp:lastModifiedBy>Rishav</cp:lastModifiedBy>
  <cp:revision>1</cp:revision>
  <dcterms:created xsi:type="dcterms:W3CDTF">2026-03-09T12:42:45Z</dcterms:created>
  <dcterms:modified xsi:type="dcterms:W3CDTF">2026-03-09T12:42:45Z</dcterms:modified>
</cp:coreProperties>
</file>