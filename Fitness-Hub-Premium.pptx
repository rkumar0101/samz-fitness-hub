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F172A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F172A"/>
                </a:solidFill>
                <a:latin typeface="Arial"/>
              </a:rPr>
              <a:t>Gym Plan Pricing (INR)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Starter</c:v>
                  </c:pt>
                  <c:pt idx="1">
                    <c:v>Value</c:v>
                  </c:pt>
                  <c:pt idx="2">
                    <c:v>Pro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999</c:v>
                </c:pt>
                <c:pt idx="1">
                  <c:v>1299</c:v>
                </c:pt>
                <c:pt idx="2">
                  <c:v>1699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Quarterly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Starter</c:v>
                  </c:pt>
                  <c:pt idx="1">
                    <c:v>Value</c:v>
                  </c:pt>
                  <c:pt idx="2">
                    <c:v>Pro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2699</c:v>
                </c:pt>
                <c:pt idx="1">
                  <c:v>3299</c:v>
                </c:pt>
                <c:pt idx="2">
                  <c:v>4299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8FAF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chart" Target="/ppt/charts/chart1.xml"/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image" Target="../media/image-12-10.png"/><Relationship Id="rId11" Type="http://schemas.openxmlformats.org/officeDocument/2006/relationships/image" Target="../media/image-12-11.png"/><Relationship Id="rId12" Type="http://schemas.openxmlformats.org/officeDocument/2006/relationships/image" Target="../media/image-12-12.png"/><Relationship Id="rId13" Type="http://schemas.openxmlformats.org/officeDocument/2006/relationships/image" Target="../media/image-12-13.png"/><Relationship Id="rId14" Type="http://schemas.openxmlformats.org/officeDocument/2006/relationships/image" Target="../media/image-12-14.png"/><Relationship Id="rId15" Type="http://schemas.openxmlformats.org/officeDocument/2006/relationships/image" Target="../media/image-12-15.png"/><Relationship Id="rId16" Type="http://schemas.openxmlformats.org/officeDocument/2006/relationships/image" Target="../media/image-12-16.png"/><Relationship Id="rId17" Type="http://schemas.openxmlformats.org/officeDocument/2006/relationships/image" Target="../media/image-12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3657600" y="-3657600"/>
            <a:ext cx="6400800" cy="6400800"/>
          </a:xfrm>
          <a:prstGeom prst="ellipse">
            <a:avLst/>
          </a:prstGeom>
          <a:solidFill>
            <a:srgbClr val="3B82F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217420" y="-2217420"/>
            <a:ext cx="3520440" cy="3520440"/>
          </a:xfrm>
          <a:prstGeom prst="ellipse">
            <a:avLst/>
          </a:prstGeom>
          <a:solidFill>
            <a:srgbClr val="3B82F6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943600" y="2286000"/>
            <a:ext cx="7315200" cy="7315200"/>
          </a:xfrm>
          <a:prstGeom prst="ellipse">
            <a:avLst/>
          </a:prstGeom>
          <a:solidFill>
            <a:srgbClr val="F59E0B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589520" y="3931920"/>
            <a:ext cx="4023360" cy="4023360"/>
          </a:xfrm>
          <a:prstGeom prst="ellipse">
            <a:avLst/>
          </a:prstGeom>
          <a:solidFill>
            <a:srgbClr val="F59E0B">
              <a:alpha val="6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943600" y="-1828800"/>
            <a:ext cx="4572000" cy="4572000"/>
          </a:xfrm>
          <a:prstGeom prst="ellipse">
            <a:avLst/>
          </a:prstGeom>
          <a:solidFill>
            <a:srgbClr val="3B82F6">
              <a:alpha val="1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972300" y="-800100"/>
            <a:ext cx="2514600" cy="2514600"/>
          </a:xfrm>
          <a:prstGeom prst="ellipse">
            <a:avLst/>
          </a:prstGeom>
          <a:solidFill>
            <a:srgbClr val="3B82F6">
              <a:alpha val="6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Shape 7"/>
          <p:cNvSpPr/>
          <p:nvPr/>
        </p:nvSpPr>
        <p:spPr>
          <a:xfrm>
            <a:off x="502920" y="384048"/>
            <a:ext cx="1828800" cy="256032"/>
          </a:xfrm>
          <a:prstGeom prst="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3840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0D1A"/>
                </a:solidFill>
              </a:rPr>
              <a:t>FITNESS PLATFORM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02920" y="7772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Fitness Hub</a:t>
            </a:r>
            <a:endParaRPr lang="en-US" sz="6400" dirty="0"/>
          </a:p>
        </p:txBody>
      </p:sp>
      <p:sp>
        <p:nvSpPr>
          <p:cNvPr id="12" name="Text 10"/>
          <p:cNvSpPr/>
          <p:nvPr/>
        </p:nvSpPr>
        <p:spPr>
          <a:xfrm>
            <a:off x="502920" y="192024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94A3B8"/>
                </a:solidFill>
              </a:rPr>
              <a:t>A complete gym growth platform — powered by AI,</a:t>
            </a:r>
            <a:endParaRPr lang="en-US" sz="160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94A3B8"/>
                </a:solidFill>
              </a:rPr>
              <a:t>built for results, designed for scale.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02920" y="2880360"/>
            <a:ext cx="1920240" cy="658368"/>
          </a:xfrm>
          <a:prstGeom prst="rect">
            <a:avLst>
              <a:gd name="adj" fmla="val 11111"/>
            </a:avLst>
          </a:prstGeom>
          <a:solidFill>
            <a:srgbClr val="FFFFFF">
              <a:alpha val="7000"/>
            </a:srgbClr>
          </a:solidFill>
          <a:ln w="635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" y="2944368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13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371600" y="303580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8E8"/>
                </a:solidFill>
              </a:rPr>
              <a:t>Sections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587752" y="2880360"/>
            <a:ext cx="1920240" cy="658368"/>
          </a:xfrm>
          <a:prstGeom prst="rect">
            <a:avLst>
              <a:gd name="adj" fmla="val 11111"/>
            </a:avLst>
          </a:prstGeom>
          <a:solidFill>
            <a:srgbClr val="FFFFFF">
              <a:alpha val="7000"/>
            </a:srgbClr>
          </a:solidFill>
          <a:ln w="635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97480" y="2944368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3456432" y="303580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8E8"/>
                </a:solidFill>
              </a:rPr>
              <a:t>Plan Tiers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72584" y="2880360"/>
            <a:ext cx="1920240" cy="658368"/>
          </a:xfrm>
          <a:prstGeom prst="rect">
            <a:avLst>
              <a:gd name="adj" fmla="val 11111"/>
            </a:avLst>
          </a:prstGeom>
          <a:solidFill>
            <a:srgbClr val="FFFFFF">
              <a:alpha val="7000"/>
            </a:srgbClr>
          </a:solidFill>
          <a:ln w="635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82312" y="2944368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5541264" y="303580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8E8"/>
                </a:solidFill>
              </a:rPr>
              <a:t>Powered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757416" y="2880360"/>
            <a:ext cx="1920240" cy="658368"/>
          </a:xfrm>
          <a:prstGeom prst="rect">
            <a:avLst>
              <a:gd name="adj" fmla="val 11111"/>
            </a:avLst>
          </a:prstGeom>
          <a:solidFill>
            <a:srgbClr val="FFFFFF">
              <a:alpha val="7000"/>
            </a:srgbClr>
          </a:solidFill>
          <a:ln w="6350">
            <a:solidFill>
              <a:srgbClr val="3B82F6">
                <a:alpha val="4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67144" y="2944368"/>
            <a:ext cx="777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∞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7626096" y="3035808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8E8"/>
                </a:solidFill>
              </a:rPr>
              <a:t>Scalable</a:t>
            </a:r>
            <a:endParaRPr lang="en-US" sz="1100" dirty="0"/>
          </a:p>
        </p:txBody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>
            <a:alphaModFix amt="8000"/>
          </a:blip>
          <a:stretch>
            <a:fillRect/>
          </a:stretch>
        </p:blipFill>
        <p:spPr>
          <a:xfrm>
            <a:off x="5303520" y="548640"/>
            <a:ext cx="3657600" cy="3657600"/>
          </a:xfrm>
          <a:prstGeom prst="rect">
            <a:avLst/>
          </a:prstGeom>
        </p:spPr>
      </p:pic>
      <p:sp>
        <p:nvSpPr>
          <p:cNvPr id="26" name="Shape 23"/>
          <p:cNvSpPr/>
          <p:nvPr/>
        </p:nvSpPr>
        <p:spPr>
          <a:xfrm>
            <a:off x="0" y="4553712"/>
            <a:ext cx="9144000" cy="589788"/>
          </a:xfrm>
          <a:prstGeom prst="rect">
            <a:avLst/>
          </a:prstGeom>
          <a:solidFill>
            <a:srgbClr val="0F1E35"/>
          </a:solidFill>
          <a:ln/>
        </p:spPr>
      </p:sp>
      <p:sp>
        <p:nvSpPr>
          <p:cNvPr id="27" name="Shape 24"/>
          <p:cNvSpPr/>
          <p:nvPr/>
        </p:nvSpPr>
        <p:spPr>
          <a:xfrm>
            <a:off x="384048" y="4645152"/>
            <a:ext cx="1353312" cy="320040"/>
          </a:xfrm>
          <a:prstGeom prst="rect">
            <a:avLst>
              <a:gd name="adj" fmla="val 22857"/>
            </a:avLst>
          </a:prstGeom>
          <a:solidFill>
            <a:srgbClr val="FFFFFF">
              <a:alpha val="9000"/>
            </a:srgbClr>
          </a:solidFill>
          <a:ln w="6350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84048" y="4645152"/>
            <a:ext cx="1353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0A5FA"/>
                </a:solidFill>
              </a:rPr>
              <a:t>Next.js 16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1865376" y="4645152"/>
            <a:ext cx="1353312" cy="320040"/>
          </a:xfrm>
          <a:prstGeom prst="rect">
            <a:avLst>
              <a:gd name="adj" fmla="val 22857"/>
            </a:avLst>
          </a:prstGeom>
          <a:solidFill>
            <a:srgbClr val="FFFFFF">
              <a:alpha val="9000"/>
            </a:srgbClr>
          </a:solidFill>
          <a:ln w="6350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865376" y="4645152"/>
            <a:ext cx="1353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0A5FA"/>
                </a:solidFill>
              </a:rPr>
              <a:t>React 19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3346704" y="4645152"/>
            <a:ext cx="1353312" cy="320040"/>
          </a:xfrm>
          <a:prstGeom prst="rect">
            <a:avLst>
              <a:gd name="adj" fmla="val 22857"/>
            </a:avLst>
          </a:prstGeom>
          <a:solidFill>
            <a:srgbClr val="FFFFFF">
              <a:alpha val="9000"/>
            </a:srgbClr>
          </a:solidFill>
          <a:ln w="6350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346704" y="4645152"/>
            <a:ext cx="1353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0A5FA"/>
                </a:solidFill>
              </a:rPr>
              <a:t>TypeScript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4828032" y="4645152"/>
            <a:ext cx="1353312" cy="320040"/>
          </a:xfrm>
          <a:prstGeom prst="rect">
            <a:avLst>
              <a:gd name="adj" fmla="val 22857"/>
            </a:avLst>
          </a:prstGeom>
          <a:solidFill>
            <a:srgbClr val="FFFFFF">
              <a:alpha val="9000"/>
            </a:srgbClr>
          </a:solidFill>
          <a:ln w="6350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828032" y="4645152"/>
            <a:ext cx="1353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0A5FA"/>
                </a:solidFill>
              </a:rPr>
              <a:t>Tailwind v4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6309360" y="4645152"/>
            <a:ext cx="1353312" cy="320040"/>
          </a:xfrm>
          <a:prstGeom prst="rect">
            <a:avLst>
              <a:gd name="adj" fmla="val 22857"/>
            </a:avLst>
          </a:prstGeom>
          <a:solidFill>
            <a:srgbClr val="FFFFFF">
              <a:alpha val="9000"/>
            </a:srgbClr>
          </a:solidFill>
          <a:ln w="6350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6309360" y="4645152"/>
            <a:ext cx="1353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0A5FA"/>
                </a:solidFill>
              </a:rPr>
              <a:t>Google Gemini AI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7790688" y="4645152"/>
            <a:ext cx="1353312" cy="320040"/>
          </a:xfrm>
          <a:prstGeom prst="rect">
            <a:avLst>
              <a:gd name="adj" fmla="val 22857"/>
            </a:avLst>
          </a:prstGeom>
          <a:solidFill>
            <a:srgbClr val="FFFFFF">
              <a:alpha val="9000"/>
            </a:srgbClr>
          </a:solidFill>
          <a:ln w="6350">
            <a:solidFill>
              <a:srgbClr val="3B82F6">
                <a:alpha val="30000"/>
              </a:srgbClr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7790688" y="4645152"/>
            <a:ext cx="13533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0A5FA"/>
                </a:solidFill>
              </a:rPr>
              <a:t>Framer Motion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828800" cy="256032"/>
          </a:xfrm>
          <a:prstGeom prst="rect">
            <a:avLst>
              <a:gd name="adj" fmla="val 50000"/>
            </a:avLst>
          </a:prstGeom>
          <a:solidFill>
            <a:srgbClr val="EF444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THE CHALLENGE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5303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Local gyms lose leads</a:t>
            </a:r>
            <a:endParaRPr lang="en-US" sz="30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before the conversation starts.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2724912" cy="1353312"/>
          </a:xfrm>
          <a:prstGeom prst="rect">
            <a:avLst>
              <a:gd name="adj" fmla="val 675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783080"/>
            <a:ext cx="2724912" cy="50292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965960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51560" y="194767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No Online Presence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621792" y="240487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Walk-ins only. Zero discovery by nearby prospects searching online.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364992" y="1783080"/>
            <a:ext cx="2724912" cy="1353312"/>
          </a:xfrm>
          <a:prstGeom prst="rect">
            <a:avLst>
              <a:gd name="adj" fmla="val 675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364992" y="1783080"/>
            <a:ext cx="2724912" cy="50292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9584" y="1965960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959352" y="194767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Slow Lead Response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3529584" y="240487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Calls go unanswered. Interested visitors bounce within seconds.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6272784" y="1783080"/>
            <a:ext cx="2724912" cy="1353312"/>
          </a:xfrm>
          <a:prstGeom prst="rect">
            <a:avLst>
              <a:gd name="adj" fmla="val 675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272784" y="1783080"/>
            <a:ext cx="2724912" cy="50292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7376" y="1965960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867144" y="194767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No Pricing Clarity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6437376" y="2404872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Hidden fees confuse prospects. Competitors with clearer sites win.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457200" y="3319272"/>
            <a:ext cx="2724912" cy="1353312"/>
          </a:xfrm>
          <a:prstGeom prst="rect">
            <a:avLst>
              <a:gd name="adj" fmla="val 675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57200" y="3319272"/>
            <a:ext cx="2724912" cy="50292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3502152"/>
            <a:ext cx="329184" cy="32918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051560" y="348386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Trainer Trust Gap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621792" y="3941064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No way to showcase trainer expertise before the first visit.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3364992" y="3319272"/>
            <a:ext cx="2724912" cy="1353312"/>
          </a:xfrm>
          <a:prstGeom prst="rect">
            <a:avLst>
              <a:gd name="adj" fmla="val 675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3364992" y="3319272"/>
            <a:ext cx="2724912" cy="50292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9584" y="3502152"/>
            <a:ext cx="329184" cy="32918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959352" y="348386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Manual Plan Creation</a:t>
            </a:r>
            <a:endParaRPr lang="en-US" sz="1150" dirty="0"/>
          </a:p>
        </p:txBody>
      </p:sp>
      <p:sp>
        <p:nvSpPr>
          <p:cNvPr id="29" name="Text 22"/>
          <p:cNvSpPr/>
          <p:nvPr/>
        </p:nvSpPr>
        <p:spPr>
          <a:xfrm>
            <a:off x="3529584" y="3941064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Every consultation is time-intensive. AI can automate this.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6199632" y="1783080"/>
            <a:ext cx="2578608" cy="3063240"/>
          </a:xfrm>
          <a:prstGeom prst="rect">
            <a:avLst>
              <a:gd name="adj" fmla="val 425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6199632" y="1783080"/>
            <a:ext cx="2578608" cy="54864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0" y="2011680"/>
            <a:ext cx="914400" cy="91440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309360" y="30175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80%</a:t>
            </a:r>
            <a:endParaRPr lang="en-US" sz="5200" dirty="0"/>
          </a:p>
        </p:txBody>
      </p:sp>
      <p:sp>
        <p:nvSpPr>
          <p:cNvPr id="34" name="Text 26"/>
          <p:cNvSpPr/>
          <p:nvPr/>
        </p:nvSpPr>
        <p:spPr>
          <a:xfrm>
            <a:off x="6309360" y="3730752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of prospects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decide online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</a:rPr>
              <a:t>before visiting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-1097280"/>
            <a:ext cx="7315200" cy="7315200"/>
          </a:xfrm>
          <a:prstGeom prst="ellipse">
            <a:avLst/>
          </a:prstGeom>
          <a:solidFill>
            <a:srgbClr val="3B82F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2560320" y="548640"/>
            <a:ext cx="4023360" cy="4023360"/>
          </a:xfrm>
          <a:prstGeom prst="ellipse">
            <a:avLst/>
          </a:prstGeom>
          <a:solidFill>
            <a:srgbClr val="3B82F6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01168"/>
            <a:ext cx="1828800" cy="256032"/>
          </a:xfrm>
          <a:prstGeom prst="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011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OUR SOLUTION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53035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One platform. Every touchpoint covered.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1143000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</a:rPr>
              <a:t>Fitness Hub replaces fragmented tools with a single conversion-optimised web platform.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57200" y="1600200"/>
            <a:ext cx="2633472" cy="1463040"/>
          </a:xfrm>
          <a:prstGeom prst="rect">
            <a:avLst>
              <a:gd name="adj" fmla="val 6250"/>
            </a:avLst>
          </a:prstGeom>
          <a:solidFill>
            <a:srgbClr val="152240"/>
          </a:solidFill>
          <a:ln w="635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600200"/>
            <a:ext cx="2633472" cy="50292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7048" y="1709928"/>
            <a:ext cx="493776" cy="49377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48640" y="2258568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AI Plan Builder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48640" y="2578608"/>
            <a:ext cx="2450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Gemini-powered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personalised plans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255264" y="1600200"/>
            <a:ext cx="2633472" cy="1463040"/>
          </a:xfrm>
          <a:prstGeom prst="rect">
            <a:avLst>
              <a:gd name="adj" fmla="val 6250"/>
            </a:avLst>
          </a:prstGeom>
          <a:solidFill>
            <a:srgbClr val="152240"/>
          </a:solidFill>
          <a:ln w="635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255264" y="1600200"/>
            <a:ext cx="2633472" cy="50292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5112" y="1709928"/>
            <a:ext cx="493776" cy="49377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346704" y="2258568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Pricing Engine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3346704" y="2578608"/>
            <a:ext cx="2450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3 goals × 3 tiers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× 3 billing cycles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6053328" y="1600200"/>
            <a:ext cx="2633472" cy="1463040"/>
          </a:xfrm>
          <a:prstGeom prst="rect">
            <a:avLst>
              <a:gd name="adj" fmla="val 6250"/>
            </a:avLst>
          </a:prstGeom>
          <a:solidFill>
            <a:srgbClr val="152240"/>
          </a:solidFill>
          <a:ln w="635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053328" y="1600200"/>
            <a:ext cx="2633472" cy="50292"/>
          </a:xfrm>
          <a:prstGeom prst="rect">
            <a:avLst/>
          </a:prstGeom>
          <a:solidFill>
            <a:srgbClr val="25D366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3176" y="1709928"/>
            <a:ext cx="493776" cy="49377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144768" y="2258568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WhatsApp CTAs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6144768" y="2578608"/>
            <a:ext cx="2450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Deep-linked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lead capture funnels</a:t>
            </a:r>
            <a:endParaRPr lang="en-US" sz="850" dirty="0"/>
          </a:p>
        </p:txBody>
      </p:sp>
      <p:sp>
        <p:nvSpPr>
          <p:cNvPr id="23" name="Shape 18"/>
          <p:cNvSpPr/>
          <p:nvPr/>
        </p:nvSpPr>
        <p:spPr>
          <a:xfrm>
            <a:off x="457200" y="3200400"/>
            <a:ext cx="2633472" cy="1463040"/>
          </a:xfrm>
          <a:prstGeom prst="rect">
            <a:avLst>
              <a:gd name="adj" fmla="val 6250"/>
            </a:avLst>
          </a:prstGeom>
          <a:solidFill>
            <a:srgbClr val="152240"/>
          </a:solidFill>
          <a:ln w="635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12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57200" y="3200400"/>
            <a:ext cx="2633472" cy="50292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27048" y="3310128"/>
            <a:ext cx="493776" cy="49377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48640" y="3858768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Trainer Profiles</a:t>
            </a:r>
            <a:endParaRPr lang="en-US" sz="1100" dirty="0"/>
          </a:p>
        </p:txBody>
      </p:sp>
      <p:sp>
        <p:nvSpPr>
          <p:cNvPr id="27" name="Text 21"/>
          <p:cNvSpPr/>
          <p:nvPr/>
        </p:nvSpPr>
        <p:spPr>
          <a:xfrm>
            <a:off x="548640" y="4178808"/>
            <a:ext cx="2450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Interactive cards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with hover &amp; lock</a:t>
            </a:r>
            <a:endParaRPr lang="en-US" sz="850" dirty="0"/>
          </a:p>
        </p:txBody>
      </p:sp>
      <p:sp>
        <p:nvSpPr>
          <p:cNvPr id="28" name="Shape 22"/>
          <p:cNvSpPr/>
          <p:nvPr/>
        </p:nvSpPr>
        <p:spPr>
          <a:xfrm>
            <a:off x="3255264" y="3200400"/>
            <a:ext cx="2633472" cy="1463040"/>
          </a:xfrm>
          <a:prstGeom prst="rect">
            <a:avLst>
              <a:gd name="adj" fmla="val 6250"/>
            </a:avLst>
          </a:prstGeom>
          <a:solidFill>
            <a:srgbClr val="152240"/>
          </a:solidFill>
          <a:ln w="635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3255264" y="3200400"/>
            <a:ext cx="2633472" cy="50292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5112" y="3310128"/>
            <a:ext cx="493776" cy="493776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3346704" y="3858768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Smart Schedule</a:t>
            </a:r>
            <a:endParaRPr lang="en-US" sz="1100" dirty="0"/>
          </a:p>
        </p:txBody>
      </p:sp>
      <p:sp>
        <p:nvSpPr>
          <p:cNvPr id="32" name="Text 25"/>
          <p:cNvSpPr/>
          <p:nvPr/>
        </p:nvSpPr>
        <p:spPr>
          <a:xfrm>
            <a:off x="3346704" y="4178808"/>
            <a:ext cx="2450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AI crowd-based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slot recommendations</a:t>
            </a:r>
            <a:endParaRPr lang="en-US" sz="850" dirty="0"/>
          </a:p>
        </p:txBody>
      </p:sp>
      <p:sp>
        <p:nvSpPr>
          <p:cNvPr id="33" name="Shape 26"/>
          <p:cNvSpPr/>
          <p:nvPr/>
        </p:nvSpPr>
        <p:spPr>
          <a:xfrm>
            <a:off x="6053328" y="3200400"/>
            <a:ext cx="2633472" cy="1463040"/>
          </a:xfrm>
          <a:prstGeom prst="rect">
            <a:avLst>
              <a:gd name="adj" fmla="val 6250"/>
            </a:avLst>
          </a:prstGeom>
          <a:solidFill>
            <a:srgbClr val="152240"/>
          </a:solidFill>
          <a:ln w="635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12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6053328" y="3200400"/>
            <a:ext cx="2633472" cy="50292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23176" y="3310128"/>
            <a:ext cx="493776" cy="493776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6144768" y="3858768"/>
            <a:ext cx="24505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Lead Generation</a:t>
            </a:r>
            <a:endParaRPr lang="en-US" sz="1100" dirty="0"/>
          </a:p>
        </p:txBody>
      </p:sp>
      <p:sp>
        <p:nvSpPr>
          <p:cNvPr id="37" name="Text 29"/>
          <p:cNvSpPr/>
          <p:nvPr/>
        </p:nvSpPr>
        <p:spPr>
          <a:xfrm>
            <a:off x="6144768" y="4178808"/>
            <a:ext cx="245059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API-powered capture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&amp; analytics ready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828800" cy="256032"/>
          </a:xfrm>
          <a:prstGeom prst="rect">
            <a:avLst>
              <a:gd name="adj" fmla="val 50000"/>
            </a:avLst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PLATFORM ARCHITECTURE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13 sections, 2 API routes, fully connected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402336"/>
          </a:xfrm>
          <a:prstGeom prst="rect">
            <a:avLst>
              <a:gd name="adj" fmla="val 13636"/>
            </a:avLst>
          </a:prstGeom>
          <a:solidFill>
            <a:srgbClr val="060D1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88720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HEADER  |  Navigation + WhatsApp CTA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682496"/>
            <a:ext cx="4956048" cy="585216"/>
          </a:xfrm>
          <a:prstGeom prst="rect">
            <a:avLst>
              <a:gd name="adj" fmla="val 9375"/>
            </a:avLst>
          </a:prstGeom>
          <a:solidFill>
            <a:srgbClr val="3B82F6"/>
          </a:solidFill>
          <a:ln/>
        </p:spPr>
      </p:sp>
      <p:sp>
        <p:nvSpPr>
          <p:cNvPr id="8" name="Text 6"/>
          <p:cNvSpPr/>
          <p:nvPr/>
        </p:nvSpPr>
        <p:spPr>
          <a:xfrm>
            <a:off x="530352" y="1682496"/>
            <a:ext cx="4846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HERO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Animated CTA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486400" y="1682496"/>
            <a:ext cx="2926080" cy="585216"/>
          </a:xfrm>
          <a:prstGeom prst="rect">
            <a:avLst>
              <a:gd name="adj" fmla="val 9375"/>
            </a:avLst>
          </a:prstGeom>
          <a:solidFill>
            <a:srgbClr val="0F1E35"/>
          </a:solidFill>
          <a:ln/>
        </p:spPr>
      </p:sp>
      <p:sp>
        <p:nvSpPr>
          <p:cNvPr id="10" name="Text 8"/>
          <p:cNvSpPr/>
          <p:nvPr/>
        </p:nvSpPr>
        <p:spPr>
          <a:xfrm>
            <a:off x="5559552" y="1682496"/>
            <a:ext cx="28163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STATS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Count-up animation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2359152"/>
            <a:ext cx="2926080" cy="585216"/>
          </a:xfrm>
          <a:prstGeom prst="rect">
            <a:avLst>
              <a:gd name="adj" fmla="val 9375"/>
            </a:avLst>
          </a:prstGeom>
          <a:solidFill>
            <a:srgbClr val="0F1E35"/>
          </a:solidFill>
          <a:ln/>
        </p:spPr>
      </p:sp>
      <p:sp>
        <p:nvSpPr>
          <p:cNvPr id="12" name="Text 10"/>
          <p:cNvSpPr/>
          <p:nvPr/>
        </p:nvSpPr>
        <p:spPr>
          <a:xfrm>
            <a:off x="530352" y="2359152"/>
            <a:ext cx="28163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FACILITIES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Interactive grid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456432" y="2359152"/>
            <a:ext cx="4956048" cy="585216"/>
          </a:xfrm>
          <a:prstGeom prst="rect">
            <a:avLst>
              <a:gd name="adj" fmla="val 9375"/>
            </a:avLst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3529584" y="2359152"/>
            <a:ext cx="4846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60D1A"/>
                </a:solidFill>
              </a:rPr>
              <a:t>AI PLAN BUILDER ★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060D1A"/>
                </a:solidFill>
              </a:rPr>
              <a:t>Gemini AI · 3 steps · Lead gate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3035808"/>
            <a:ext cx="2670048" cy="585216"/>
          </a:xfrm>
          <a:prstGeom prst="rect">
            <a:avLst>
              <a:gd name="adj" fmla="val 9375"/>
            </a:avLst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035808"/>
            <a:ext cx="2560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PLANS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3 categories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0" y="3035808"/>
            <a:ext cx="2670048" cy="585216"/>
          </a:xfrm>
          <a:prstGeom prst="rect">
            <a:avLst>
              <a:gd name="adj" fmla="val 9375"/>
            </a:avLst>
          </a:prstGeom>
          <a:solidFill>
            <a:srgbClr val="0F1E35"/>
          </a:solidFill>
          <a:ln/>
        </p:spPr>
      </p:sp>
      <p:sp>
        <p:nvSpPr>
          <p:cNvPr id="18" name="Text 16"/>
          <p:cNvSpPr/>
          <p:nvPr/>
        </p:nvSpPr>
        <p:spPr>
          <a:xfrm>
            <a:off x="3273552" y="3035808"/>
            <a:ext cx="25603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TRAINERS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Hover/lock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943600" y="3035808"/>
            <a:ext cx="2468880" cy="585216"/>
          </a:xfrm>
          <a:prstGeom prst="rect">
            <a:avLst>
              <a:gd name="adj" fmla="val 9375"/>
            </a:avLst>
          </a:prstGeom>
          <a:solidFill>
            <a:srgbClr val="0F1E35"/>
          </a:solidFill>
          <a:ln/>
        </p:spPr>
      </p:sp>
      <p:sp>
        <p:nvSpPr>
          <p:cNvPr id="20" name="Text 18"/>
          <p:cNvSpPr/>
          <p:nvPr/>
        </p:nvSpPr>
        <p:spPr>
          <a:xfrm>
            <a:off x="6016752" y="3035808"/>
            <a:ext cx="235915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SCHEDULE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Goal-based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3712464"/>
            <a:ext cx="2048256" cy="475488"/>
          </a:xfrm>
          <a:prstGeom prst="rect">
            <a:avLst>
              <a:gd name="adj" fmla="val 11538"/>
            </a:avLst>
          </a:prstGeom>
          <a:solidFill>
            <a:srgbClr val="0F1E35"/>
          </a:solidFill>
          <a:ln/>
        </p:spPr>
      </p:sp>
      <p:sp>
        <p:nvSpPr>
          <p:cNvPr id="22" name="Text 20"/>
          <p:cNvSpPr/>
          <p:nvPr/>
        </p:nvSpPr>
        <p:spPr>
          <a:xfrm>
            <a:off x="530352" y="3712464"/>
            <a:ext cx="1938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REVIEWS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578608" y="3712464"/>
            <a:ext cx="2048256" cy="475488"/>
          </a:xfrm>
          <a:prstGeom prst="rect">
            <a:avLst>
              <a:gd name="adj" fmla="val 11538"/>
            </a:avLst>
          </a:prstGeom>
          <a:solidFill>
            <a:srgbClr val="0F1E35"/>
          </a:solidFill>
          <a:ln/>
        </p:spPr>
      </p:sp>
      <p:sp>
        <p:nvSpPr>
          <p:cNvPr id="24" name="Text 22"/>
          <p:cNvSpPr/>
          <p:nvPr/>
        </p:nvSpPr>
        <p:spPr>
          <a:xfrm>
            <a:off x="2651760" y="3712464"/>
            <a:ext cx="1938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HOW TO START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700016" y="3712464"/>
            <a:ext cx="2048256" cy="475488"/>
          </a:xfrm>
          <a:prstGeom prst="rect">
            <a:avLst>
              <a:gd name="adj" fmla="val 11538"/>
            </a:avLst>
          </a:prstGeom>
          <a:solidFill>
            <a:srgbClr val="0F1E35"/>
          </a:solidFill>
          <a:ln/>
        </p:spPr>
      </p:sp>
      <p:sp>
        <p:nvSpPr>
          <p:cNvPr id="26" name="Text 24"/>
          <p:cNvSpPr/>
          <p:nvPr/>
        </p:nvSpPr>
        <p:spPr>
          <a:xfrm>
            <a:off x="4773168" y="3712464"/>
            <a:ext cx="19385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LOCATION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821424" y="3712464"/>
            <a:ext cx="1956816" cy="475488"/>
          </a:xfrm>
          <a:prstGeom prst="rect">
            <a:avLst>
              <a:gd name="adj" fmla="val 11538"/>
            </a:avLst>
          </a:prstGeom>
          <a:solidFill>
            <a:srgbClr val="0F1E35"/>
          </a:solidFill>
          <a:ln/>
        </p:spPr>
      </p:sp>
      <p:sp>
        <p:nvSpPr>
          <p:cNvPr id="28" name="Text 26"/>
          <p:cNvSpPr/>
          <p:nvPr/>
        </p:nvSpPr>
        <p:spPr>
          <a:xfrm>
            <a:off x="6894576" y="3712464"/>
            <a:ext cx="18470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FAQ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57200" y="4297680"/>
            <a:ext cx="8229600" cy="347472"/>
          </a:xfrm>
          <a:prstGeom prst="rect">
            <a:avLst>
              <a:gd name="adj" fmla="val 15789"/>
            </a:avLst>
          </a:prstGeom>
          <a:solidFill>
            <a:srgbClr val="060D1A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429768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FOOTER  |  Brand info + quick links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57200" y="4736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</a:rPr>
              <a:t>API: /api/plan (Gemini)  +  /api/leads (lead capture)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1828800"/>
            <a:ext cx="5486400" cy="5486400"/>
          </a:xfrm>
          <a:prstGeom prst="ellipse">
            <a:avLst/>
          </a:prstGeom>
          <a:solidFill>
            <a:srgbClr val="F59E0B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94360" y="3063240"/>
            <a:ext cx="3017520" cy="3017520"/>
          </a:xfrm>
          <a:prstGeom prst="ellipse">
            <a:avLst/>
          </a:prstGeom>
          <a:solidFill>
            <a:srgbClr val="F59E0B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3B82F6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972300" y="-342900"/>
            <a:ext cx="2514600" cy="2514600"/>
          </a:xfrm>
          <a:prstGeom prst="ellipse">
            <a:avLst/>
          </a:prstGeom>
          <a:solidFill>
            <a:srgbClr val="3B82F6">
              <a:alpha val="6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82880"/>
            <a:ext cx="1828800" cy="256032"/>
          </a:xfrm>
          <a:prstGeom prst="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828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STAR FEATURE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493776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AI-Powered Plan Builder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457200" y="11155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From intake form to personalised PDF — fully automated with Google Gemini AI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28016" y="1600200"/>
            <a:ext cx="1572768" cy="2788920"/>
          </a:xfrm>
          <a:prstGeom prst="rect">
            <a:avLst>
              <a:gd name="adj" fmla="val 5814"/>
            </a:avLst>
          </a:prstGeom>
          <a:solidFill>
            <a:srgbClr val="152240"/>
          </a:solidFill>
          <a:ln w="635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28016" y="1600200"/>
            <a:ext cx="1572768" cy="5029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Shape 10"/>
          <p:cNvSpPr/>
          <p:nvPr/>
        </p:nvSpPr>
        <p:spPr>
          <a:xfrm>
            <a:off x="658368" y="1719072"/>
            <a:ext cx="512064" cy="512064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" y="17190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1</a:t>
            </a:r>
            <a:endParaRPr lang="en-US" sz="15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2395728"/>
            <a:ext cx="402336" cy="402336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201168" y="2907792"/>
            <a:ext cx="1426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User Inputs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201168" y="3273552"/>
            <a:ext cx="14264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90B0D0"/>
                </a:solidFill>
              </a:rPr>
              <a:t>Goal · Experience</a:t>
            </a:r>
            <a:endParaRPr lang="en-US" sz="8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90B0D0"/>
                </a:solidFill>
              </a:rPr>
              <a:t>Days · Diet · Injuries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719072" y="28254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A5070"/>
                </a:solidFill>
              </a:rPr>
              <a:t>▶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1956816" y="1600200"/>
            <a:ext cx="1572768" cy="2788920"/>
          </a:xfrm>
          <a:prstGeom prst="rect">
            <a:avLst>
              <a:gd name="adj" fmla="val 5814"/>
            </a:avLst>
          </a:prstGeom>
          <a:solidFill>
            <a:srgbClr val="152240"/>
          </a:solidFill>
          <a:ln w="635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1956816" y="1600200"/>
            <a:ext cx="1572768" cy="5029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Shape 17"/>
          <p:cNvSpPr/>
          <p:nvPr/>
        </p:nvSpPr>
        <p:spPr>
          <a:xfrm>
            <a:off x="2487168" y="1719072"/>
            <a:ext cx="512064" cy="512064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1" name="Text 18"/>
          <p:cNvSpPr/>
          <p:nvPr/>
        </p:nvSpPr>
        <p:spPr>
          <a:xfrm>
            <a:off x="2487168" y="17190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2</a:t>
            </a:r>
            <a:endParaRPr lang="en-US" sz="1500" dirty="0"/>
          </a:p>
        </p:txBody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2032" y="2395728"/>
            <a:ext cx="402336" cy="402336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2029968" y="2907792"/>
            <a:ext cx="1426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Gemini AI</a:t>
            </a:r>
            <a:endParaRPr lang="en-US" sz="1050" dirty="0"/>
          </a:p>
        </p:txBody>
      </p:sp>
      <p:sp>
        <p:nvSpPr>
          <p:cNvPr id="24" name="Text 20"/>
          <p:cNvSpPr/>
          <p:nvPr/>
        </p:nvSpPr>
        <p:spPr>
          <a:xfrm>
            <a:off x="2029968" y="3273552"/>
            <a:ext cx="14264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90B0D0"/>
                </a:solidFill>
              </a:rPr>
              <a:t>gemini-flash</a:t>
            </a:r>
            <a:endParaRPr lang="en-US" sz="8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90B0D0"/>
                </a:solidFill>
              </a:rPr>
              <a:t>JSON workout plan</a:t>
            </a:r>
            <a:endParaRPr lang="en-US" sz="850" dirty="0"/>
          </a:p>
        </p:txBody>
      </p:sp>
      <p:sp>
        <p:nvSpPr>
          <p:cNvPr id="25" name="Text 21"/>
          <p:cNvSpPr/>
          <p:nvPr/>
        </p:nvSpPr>
        <p:spPr>
          <a:xfrm>
            <a:off x="3547872" y="28254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A5070"/>
                </a:solidFill>
              </a:rPr>
              <a:t>▶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3785616" y="1600200"/>
            <a:ext cx="1572768" cy="2788920"/>
          </a:xfrm>
          <a:prstGeom prst="rect">
            <a:avLst>
              <a:gd name="adj" fmla="val 5814"/>
            </a:avLst>
          </a:prstGeom>
          <a:solidFill>
            <a:srgbClr val="152240"/>
          </a:solidFill>
          <a:ln w="635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3785616" y="1600200"/>
            <a:ext cx="1572768" cy="5029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8" name="Shape 24"/>
          <p:cNvSpPr/>
          <p:nvPr/>
        </p:nvSpPr>
        <p:spPr>
          <a:xfrm>
            <a:off x="4315968" y="1719072"/>
            <a:ext cx="512064" cy="512064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9" name="Text 25"/>
          <p:cNvSpPr/>
          <p:nvPr/>
        </p:nvSpPr>
        <p:spPr>
          <a:xfrm>
            <a:off x="4315968" y="17190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3</a:t>
            </a:r>
            <a:endParaRPr lang="en-US" sz="1500" dirty="0"/>
          </a:p>
        </p:txBody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0832" y="2395728"/>
            <a:ext cx="402336" cy="402336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3858768" y="2907792"/>
            <a:ext cx="1426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Plan Generated</a:t>
            </a:r>
            <a:endParaRPr lang="en-US" sz="1050" dirty="0"/>
          </a:p>
        </p:txBody>
      </p:sp>
      <p:sp>
        <p:nvSpPr>
          <p:cNvPr id="32" name="Text 27"/>
          <p:cNvSpPr/>
          <p:nvPr/>
        </p:nvSpPr>
        <p:spPr>
          <a:xfrm>
            <a:off x="3858768" y="3273552"/>
            <a:ext cx="14264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90B0D0"/>
                </a:solidFill>
              </a:rPr>
              <a:t>Weekly split</a:t>
            </a:r>
            <a:endParaRPr lang="en-US" sz="8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90B0D0"/>
                </a:solidFill>
              </a:rPr>
              <a:t>4-week progression</a:t>
            </a:r>
            <a:endParaRPr lang="en-US" sz="850" dirty="0"/>
          </a:p>
        </p:txBody>
      </p:sp>
      <p:sp>
        <p:nvSpPr>
          <p:cNvPr id="33" name="Text 28"/>
          <p:cNvSpPr/>
          <p:nvPr/>
        </p:nvSpPr>
        <p:spPr>
          <a:xfrm>
            <a:off x="5376672" y="28254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A5070"/>
                </a:solidFill>
              </a:rPr>
              <a:t>▶</a:t>
            </a:r>
            <a:endParaRPr lang="en-US" sz="1300" dirty="0"/>
          </a:p>
        </p:txBody>
      </p:sp>
      <p:sp>
        <p:nvSpPr>
          <p:cNvPr id="34" name="Shape 29"/>
          <p:cNvSpPr/>
          <p:nvPr/>
        </p:nvSpPr>
        <p:spPr>
          <a:xfrm>
            <a:off x="5614416" y="1600200"/>
            <a:ext cx="1572768" cy="2788920"/>
          </a:xfrm>
          <a:prstGeom prst="rect">
            <a:avLst>
              <a:gd name="adj" fmla="val 5814"/>
            </a:avLst>
          </a:prstGeom>
          <a:solidFill>
            <a:srgbClr val="152240"/>
          </a:solidFill>
          <a:ln w="635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0"/>
          <p:cNvSpPr/>
          <p:nvPr/>
        </p:nvSpPr>
        <p:spPr>
          <a:xfrm>
            <a:off x="5614416" y="1600200"/>
            <a:ext cx="1572768" cy="5029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6" name="Shape 31"/>
          <p:cNvSpPr/>
          <p:nvPr/>
        </p:nvSpPr>
        <p:spPr>
          <a:xfrm>
            <a:off x="6144768" y="1719072"/>
            <a:ext cx="512064" cy="512064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37" name="Text 32"/>
          <p:cNvSpPr/>
          <p:nvPr/>
        </p:nvSpPr>
        <p:spPr>
          <a:xfrm>
            <a:off x="6144768" y="17190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4</a:t>
            </a:r>
            <a:endParaRPr lang="en-US" sz="1500" dirty="0"/>
          </a:p>
        </p:txBody>
      </p:sp>
      <p:pic>
        <p:nvPicPr>
          <p:cNvPr id="3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9632" y="2395728"/>
            <a:ext cx="402336" cy="402336"/>
          </a:xfrm>
          <a:prstGeom prst="rect">
            <a:avLst/>
          </a:prstGeom>
        </p:spPr>
      </p:pic>
      <p:sp>
        <p:nvSpPr>
          <p:cNvPr id="39" name="Text 33"/>
          <p:cNvSpPr/>
          <p:nvPr/>
        </p:nvSpPr>
        <p:spPr>
          <a:xfrm>
            <a:off x="5687568" y="2907792"/>
            <a:ext cx="1426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Lead Gate</a:t>
            </a:r>
            <a:endParaRPr lang="en-US" sz="1050" dirty="0"/>
          </a:p>
        </p:txBody>
      </p:sp>
      <p:sp>
        <p:nvSpPr>
          <p:cNvPr id="40" name="Text 34"/>
          <p:cNvSpPr/>
          <p:nvPr/>
        </p:nvSpPr>
        <p:spPr>
          <a:xfrm>
            <a:off x="5687568" y="3273552"/>
            <a:ext cx="14264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90B0D0"/>
                </a:solidFill>
              </a:rPr>
              <a:t>Name · Phone</a:t>
            </a:r>
            <a:endParaRPr lang="en-US" sz="8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90B0D0"/>
                </a:solidFill>
              </a:rPr>
              <a:t>WhatsApp consent</a:t>
            </a:r>
            <a:endParaRPr lang="en-US" sz="850" dirty="0"/>
          </a:p>
        </p:txBody>
      </p:sp>
      <p:sp>
        <p:nvSpPr>
          <p:cNvPr id="41" name="Text 35"/>
          <p:cNvSpPr/>
          <p:nvPr/>
        </p:nvSpPr>
        <p:spPr>
          <a:xfrm>
            <a:off x="7205472" y="282549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3A5070"/>
                </a:solidFill>
              </a:rPr>
              <a:t>▶</a:t>
            </a:r>
            <a:endParaRPr lang="en-US" sz="1300" dirty="0"/>
          </a:p>
        </p:txBody>
      </p:sp>
      <p:sp>
        <p:nvSpPr>
          <p:cNvPr id="42" name="Shape 36"/>
          <p:cNvSpPr/>
          <p:nvPr/>
        </p:nvSpPr>
        <p:spPr>
          <a:xfrm>
            <a:off x="7443216" y="1600200"/>
            <a:ext cx="1572768" cy="2788920"/>
          </a:xfrm>
          <a:prstGeom prst="rect">
            <a:avLst>
              <a:gd name="adj" fmla="val 5814"/>
            </a:avLst>
          </a:prstGeom>
          <a:solidFill>
            <a:srgbClr val="152240"/>
          </a:solidFill>
          <a:ln w="635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12000"/>
              </a:srgbClr>
            </a:outerShdw>
          </a:effectLst>
        </p:spPr>
      </p:sp>
      <p:sp>
        <p:nvSpPr>
          <p:cNvPr id="43" name="Shape 37"/>
          <p:cNvSpPr/>
          <p:nvPr/>
        </p:nvSpPr>
        <p:spPr>
          <a:xfrm>
            <a:off x="7443216" y="1600200"/>
            <a:ext cx="1572768" cy="5029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4" name="Shape 38"/>
          <p:cNvSpPr/>
          <p:nvPr/>
        </p:nvSpPr>
        <p:spPr>
          <a:xfrm>
            <a:off x="7973568" y="1719072"/>
            <a:ext cx="512064" cy="512064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45" name="Text 39"/>
          <p:cNvSpPr/>
          <p:nvPr/>
        </p:nvSpPr>
        <p:spPr>
          <a:xfrm>
            <a:off x="7973568" y="1719072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</a:t>
            </a:r>
            <a:endParaRPr lang="en-US" sz="1500" dirty="0"/>
          </a:p>
        </p:txBody>
      </p:sp>
      <p:pic>
        <p:nvPicPr>
          <p:cNvPr id="4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28432" y="2395728"/>
            <a:ext cx="402336" cy="402336"/>
          </a:xfrm>
          <a:prstGeom prst="rect">
            <a:avLst/>
          </a:prstGeom>
        </p:spPr>
      </p:pic>
      <p:sp>
        <p:nvSpPr>
          <p:cNvPr id="47" name="Text 40"/>
          <p:cNvSpPr/>
          <p:nvPr/>
        </p:nvSpPr>
        <p:spPr>
          <a:xfrm>
            <a:off x="7516368" y="2907792"/>
            <a:ext cx="1426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PDF Report</a:t>
            </a:r>
            <a:endParaRPr lang="en-US" sz="1050" dirty="0"/>
          </a:p>
        </p:txBody>
      </p:sp>
      <p:sp>
        <p:nvSpPr>
          <p:cNvPr id="48" name="Text 41"/>
          <p:cNvSpPr/>
          <p:nvPr/>
        </p:nvSpPr>
        <p:spPr>
          <a:xfrm>
            <a:off x="7516368" y="3273552"/>
            <a:ext cx="14264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90B0D0"/>
                </a:solidFill>
              </a:rPr>
              <a:t>Print-to-PDF</a:t>
            </a:r>
            <a:endParaRPr lang="en-US" sz="8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90B0D0"/>
                </a:solidFill>
              </a:rPr>
              <a:t>Full styled report</a:t>
            </a:r>
            <a:endParaRPr lang="en-US" sz="850" dirty="0"/>
          </a:p>
        </p:txBody>
      </p:sp>
      <p:sp>
        <p:nvSpPr>
          <p:cNvPr id="49" name="Shape 42"/>
          <p:cNvSpPr/>
          <p:nvPr/>
        </p:nvSpPr>
        <p:spPr>
          <a:xfrm>
            <a:off x="457200" y="4553712"/>
            <a:ext cx="8229600" cy="438912"/>
          </a:xfrm>
          <a:prstGeom prst="rect">
            <a:avLst>
              <a:gd name="adj" fmla="val 16667"/>
            </a:avLst>
          </a:prstGeom>
          <a:solidFill>
            <a:srgbClr val="0F1E35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12000"/>
              </a:srgbClr>
            </a:outerShdw>
          </a:effectLst>
        </p:spPr>
      </p:sp>
      <p:sp>
        <p:nvSpPr>
          <p:cNvPr id="50" name="Text 43"/>
          <p:cNvSpPr/>
          <p:nvPr/>
        </p:nvSpPr>
        <p:spPr>
          <a:xfrm>
            <a:off x="640080" y="4553712"/>
            <a:ext cx="7863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0A5FA"/>
                </a:solidFill>
              </a:rPr>
              <a:t>Output includes:  ✦ Weekly split  ✦ Workout rules  ✦ Nutrition basics  ✦ 4-week progression  ✦ Safety notes  ✦ What to tell trainer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828800" cy="256032"/>
          </a:xfrm>
          <a:prstGeom prst="rect">
            <a:avLst>
              <a:gd name="adj" fmla="val 50000"/>
            </a:avLst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PRICING ENGINE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 Categories. 3 Tiers.</a:t>
            </a:r>
            <a:endParaRPr lang="en-US" sz="2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 savings calculator.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4114800" cy="777240"/>
          </a:xfrm>
          <a:prstGeom prst="rect">
            <a:avLst>
              <a:gd name="adj" fmla="val 1058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554480"/>
            <a:ext cx="54864" cy="7772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16276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Gym Only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58368" y="19385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82F6"/>
                </a:solidFill>
              </a:rPr>
              <a:t>₹999 – ₹1,699 / mo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606040" y="18105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3 tiers · Starter → Pro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57200" y="2468880"/>
            <a:ext cx="4114800" cy="777240"/>
          </a:xfrm>
          <a:prstGeom prst="rect">
            <a:avLst>
              <a:gd name="adj" fmla="val 1058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468880"/>
            <a:ext cx="54864" cy="7772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25420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Gym + PT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8368" y="28529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59E0B"/>
                </a:solidFill>
              </a:rPr>
              <a:t>₹2,499 – ₹5,999 / mo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606040" y="27249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3 tiers · PT Lite → PT Pro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3383280"/>
            <a:ext cx="4114800" cy="777240"/>
          </a:xfrm>
          <a:prstGeom prst="rect">
            <a:avLst>
              <a:gd name="adj" fmla="val 10588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383280"/>
            <a:ext cx="54864" cy="7772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" y="345643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Transformation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58368" y="37673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0B981"/>
                </a:solidFill>
              </a:rPr>
              <a:t>₹3,999 – ₹9,999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606040" y="36393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28-day · 90-day · 6-month</a:t>
            </a:r>
            <a:endParaRPr lang="en-US" sz="95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4407408"/>
            <a:ext cx="201168" cy="201168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749808" y="4389120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Billing cycles: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2267712" y="438912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Monthly · Quarterly · Yearly</a:t>
            </a:r>
            <a:endParaRPr lang="en-US" sz="950" dirty="0"/>
          </a:p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4700016"/>
            <a:ext cx="201168" cy="201168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749808" y="4681728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Savings calculator:</a:t>
            </a:r>
            <a:endParaRPr lang="en-US" sz="950" dirty="0"/>
          </a:p>
        </p:txBody>
      </p:sp>
      <p:sp>
        <p:nvSpPr>
          <p:cNvPr id="25" name="Text 21"/>
          <p:cNvSpPr/>
          <p:nvPr/>
        </p:nvSpPr>
        <p:spPr>
          <a:xfrm>
            <a:off x="2267712" y="4681728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Auto vs monthly rate</a:t>
            </a:r>
            <a:endParaRPr lang="en-US" sz="950" dirty="0"/>
          </a:p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4992624"/>
            <a:ext cx="201168" cy="201168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749808" y="4974336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Per-plan WhatsApp:</a:t>
            </a:r>
            <a:endParaRPr lang="en-US" sz="950" dirty="0"/>
          </a:p>
        </p:txBody>
      </p:sp>
      <p:sp>
        <p:nvSpPr>
          <p:cNvPr id="28" name="Text 23"/>
          <p:cNvSpPr/>
          <p:nvPr/>
        </p:nvSpPr>
        <p:spPr>
          <a:xfrm>
            <a:off x="2267712" y="4974336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Deep-link with plan + price</a:t>
            </a:r>
            <a:endParaRPr lang="en-US" sz="950" dirty="0"/>
          </a:p>
        </p:txBody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5285232"/>
            <a:ext cx="201168" cy="201168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749808" y="5266944"/>
            <a:ext cx="1463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</a:rPr>
              <a:t>Plan comparison:</a:t>
            </a:r>
            <a:endParaRPr lang="en-US" sz="950" dirty="0"/>
          </a:p>
        </p:txBody>
      </p:sp>
      <p:sp>
        <p:nvSpPr>
          <p:cNvPr id="31" name="Text 25"/>
          <p:cNvSpPr/>
          <p:nvPr/>
        </p:nvSpPr>
        <p:spPr>
          <a:xfrm>
            <a:off x="2267712" y="5266944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Side-by-side toggle</a:t>
            </a:r>
            <a:endParaRPr lang="en-US" sz="950" dirty="0"/>
          </a:p>
        </p:txBody>
      </p:sp>
      <p:graphicFrame>
        <p:nvGraphicFramePr>
          <p:cNvPr id="32" name="Chart 0" descr=""/>
          <p:cNvGraphicFramePr/>
          <p:nvPr/>
        </p:nvGraphicFramePr>
        <p:xfrm>
          <a:off x="4663440" y="1097280"/>
          <a:ext cx="420624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1828800"/>
            <a:ext cx="5486400" cy="5486400"/>
          </a:xfrm>
          <a:prstGeom prst="ellipse">
            <a:avLst/>
          </a:prstGeom>
          <a:solidFill>
            <a:srgbClr val="25D36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594360" y="3063240"/>
            <a:ext cx="3017520" cy="3017520"/>
          </a:xfrm>
          <a:prstGeom prst="ellipse">
            <a:avLst/>
          </a:prstGeom>
          <a:solidFill>
            <a:srgbClr val="25D366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0" y="-1828800"/>
            <a:ext cx="3657600" cy="3657600"/>
          </a:xfrm>
          <a:prstGeom prst="ellipse">
            <a:avLst/>
          </a:prstGeom>
          <a:solidFill>
            <a:srgbClr val="3B82F6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223760" y="-1005840"/>
            <a:ext cx="2011680" cy="2011680"/>
          </a:xfrm>
          <a:prstGeom prst="ellipse">
            <a:avLst/>
          </a:prstGeom>
          <a:solidFill>
            <a:srgbClr val="3B82F6">
              <a:alpha val="6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201168"/>
            <a:ext cx="1828800" cy="256032"/>
          </a:xfrm>
          <a:prstGeom prst="rect">
            <a:avLst>
              <a:gd name="adj" fmla="val 50000"/>
            </a:avLst>
          </a:prstGeom>
          <a:solidFill>
            <a:srgbClr val="25D36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011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LEAD GENERATION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5029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WhatsApp-First</a:t>
            </a:r>
            <a:endParaRPr lang="en-US" sz="3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Conversion Funnel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14630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Every CTA on the platform routes to WhatsApp with a pre-filled context message.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" y="1965960"/>
            <a:ext cx="3474720" cy="475488"/>
          </a:xfrm>
          <a:prstGeom prst="rect">
            <a:avLst>
              <a:gd name="adj" fmla="val 9615"/>
            </a:avLst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2002536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Website Visitor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85800" y="2231136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0DCC0"/>
                </a:solidFill>
              </a:rPr>
              <a:t>Lands on Fitness Hub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868680" y="2496312"/>
            <a:ext cx="2926080" cy="475488"/>
          </a:xfrm>
          <a:prstGeom prst="rect">
            <a:avLst>
              <a:gd name="adj" fmla="val 9615"/>
            </a:avLst>
          </a:prstGeom>
          <a:solidFill>
            <a:srgbClr val="3B82F6">
              <a:alpha val="88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2532888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CTA Interaction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60120" y="276148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0DCC0"/>
                </a:solidFill>
              </a:rPr>
              <a:t>Clicks WhatsApp button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1143000" y="3026664"/>
            <a:ext cx="2377440" cy="475488"/>
          </a:xfrm>
          <a:prstGeom prst="rect">
            <a:avLst>
              <a:gd name="adj" fmla="val 9615"/>
            </a:avLst>
          </a:prstGeom>
          <a:solidFill>
            <a:srgbClr val="25D366">
              <a:alpha val="76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234440" y="306324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WhatsApp Opened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234440" y="3291840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0DCC0"/>
                </a:solidFill>
              </a:rPr>
              <a:t>Pre-filled message sent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1417320" y="3557016"/>
            <a:ext cx="1828800" cy="475488"/>
          </a:xfrm>
          <a:prstGeom prst="rect">
            <a:avLst>
              <a:gd name="adj" fmla="val 9615"/>
            </a:avLst>
          </a:prstGeom>
          <a:solidFill>
            <a:srgbClr val="F59E0B">
              <a:alpha val="64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1508760" y="359359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Trial Booked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508760" y="382219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0DCC0"/>
                </a:solidFill>
              </a:rPr>
              <a:t>Gym confirms timing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1691640" y="4087368"/>
            <a:ext cx="1280160" cy="475488"/>
          </a:xfrm>
          <a:prstGeom prst="rect">
            <a:avLst>
              <a:gd name="adj" fmla="val 9615"/>
            </a:avLst>
          </a:prstGeom>
          <a:solidFill>
            <a:srgbClr val="10B981">
              <a:alpha val="52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1783080" y="4123944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Member Converted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783080" y="4352544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C0DCC0"/>
                </a:solidFill>
              </a:rPr>
              <a:t>Signs up for plan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663440" y="16916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Deep-link CTA examples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663440" y="2029968"/>
            <a:ext cx="4114800" cy="512064"/>
          </a:xfrm>
          <a:prstGeom prst="rect">
            <a:avLst>
              <a:gd name="adj" fmla="val 12500"/>
            </a:avLst>
          </a:prstGeom>
          <a:solidFill>
            <a:srgbClr val="152240"/>
          </a:solidFill>
          <a:ln w="635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2029968"/>
            <a:ext cx="50292" cy="512064"/>
          </a:xfrm>
          <a:prstGeom prst="rect">
            <a:avLst/>
          </a:prstGeom>
          <a:solidFill>
            <a:srgbClr val="25D366"/>
          </a:solidFill>
          <a:ln/>
        </p:spPr>
      </p:sp>
      <p:sp>
        <p:nvSpPr>
          <p:cNvPr id="28" name="Shape 26"/>
          <p:cNvSpPr/>
          <p:nvPr/>
        </p:nvSpPr>
        <p:spPr>
          <a:xfrm>
            <a:off x="4773168" y="2121408"/>
            <a:ext cx="822960" cy="256032"/>
          </a:xfrm>
          <a:prstGeom prst="rect">
            <a:avLst>
              <a:gd name="adj" fmla="val 50000"/>
            </a:avLst>
          </a:prstGeom>
          <a:solidFill>
            <a:srgbClr val="060D1A"/>
          </a:solidFill>
          <a:ln/>
        </p:spPr>
      </p:sp>
      <p:sp>
        <p:nvSpPr>
          <p:cNvPr id="29" name="Text 27"/>
          <p:cNvSpPr/>
          <p:nvPr/>
        </p:nvSpPr>
        <p:spPr>
          <a:xfrm>
            <a:off x="4773168" y="212140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0A5FA"/>
                </a:solidFill>
              </a:rPr>
              <a:t>Hero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773168" y="2304288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C890"/>
                </a:solidFill>
              </a:rPr>
              <a:t>"Hi! I want a free trial. My goal is ___."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663440" y="2615184"/>
            <a:ext cx="4114800" cy="512064"/>
          </a:xfrm>
          <a:prstGeom prst="rect">
            <a:avLst>
              <a:gd name="adj" fmla="val 12500"/>
            </a:avLst>
          </a:prstGeom>
          <a:solidFill>
            <a:srgbClr val="152240"/>
          </a:solidFill>
          <a:ln w="635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63440" y="2615184"/>
            <a:ext cx="50292" cy="512064"/>
          </a:xfrm>
          <a:prstGeom prst="rect">
            <a:avLst/>
          </a:prstGeom>
          <a:solidFill>
            <a:srgbClr val="25D366"/>
          </a:solidFill>
          <a:ln/>
        </p:spPr>
      </p:sp>
      <p:sp>
        <p:nvSpPr>
          <p:cNvPr id="33" name="Shape 31"/>
          <p:cNvSpPr/>
          <p:nvPr/>
        </p:nvSpPr>
        <p:spPr>
          <a:xfrm>
            <a:off x="4773168" y="2706624"/>
            <a:ext cx="822960" cy="256032"/>
          </a:xfrm>
          <a:prstGeom prst="rect">
            <a:avLst>
              <a:gd name="adj" fmla="val 50000"/>
            </a:avLst>
          </a:prstGeom>
          <a:solidFill>
            <a:srgbClr val="060D1A"/>
          </a:solidFill>
          <a:ln/>
        </p:spPr>
      </p:sp>
      <p:sp>
        <p:nvSpPr>
          <p:cNvPr id="34" name="Text 32"/>
          <p:cNvSpPr/>
          <p:nvPr/>
        </p:nvSpPr>
        <p:spPr>
          <a:xfrm>
            <a:off x="4773168" y="2706624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0A5FA"/>
                </a:solidFill>
              </a:rPr>
              <a:t>Plan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773168" y="288950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C890"/>
                </a:solidFill>
              </a:rPr>
              <a:t>"Hi! I want the Pro plan (Quarterly, ₹4,299)."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4663440" y="3200400"/>
            <a:ext cx="4114800" cy="512064"/>
          </a:xfrm>
          <a:prstGeom prst="rect">
            <a:avLst>
              <a:gd name="adj" fmla="val 12500"/>
            </a:avLst>
          </a:prstGeom>
          <a:solidFill>
            <a:srgbClr val="152240"/>
          </a:solidFill>
          <a:ln w="635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663440" y="3200400"/>
            <a:ext cx="50292" cy="512064"/>
          </a:xfrm>
          <a:prstGeom prst="rect">
            <a:avLst/>
          </a:prstGeom>
          <a:solidFill>
            <a:srgbClr val="25D366"/>
          </a:solidFill>
          <a:ln/>
        </p:spPr>
      </p:sp>
      <p:sp>
        <p:nvSpPr>
          <p:cNvPr id="38" name="Shape 36"/>
          <p:cNvSpPr/>
          <p:nvPr/>
        </p:nvSpPr>
        <p:spPr>
          <a:xfrm>
            <a:off x="4773168" y="3291840"/>
            <a:ext cx="822960" cy="256032"/>
          </a:xfrm>
          <a:prstGeom prst="rect">
            <a:avLst>
              <a:gd name="adj" fmla="val 50000"/>
            </a:avLst>
          </a:prstGeom>
          <a:solidFill>
            <a:srgbClr val="060D1A"/>
          </a:solidFill>
          <a:ln/>
        </p:spPr>
      </p:sp>
      <p:sp>
        <p:nvSpPr>
          <p:cNvPr id="39" name="Text 37"/>
          <p:cNvSpPr/>
          <p:nvPr/>
        </p:nvSpPr>
        <p:spPr>
          <a:xfrm>
            <a:off x="4773168" y="329184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0A5FA"/>
                </a:solidFill>
              </a:rPr>
              <a:t>Trainer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773168" y="347472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C890"/>
                </a:solidFill>
              </a:rPr>
              <a:t>"Hi! I'd like to train with Arjun Verma."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663440" y="3785616"/>
            <a:ext cx="4114800" cy="512064"/>
          </a:xfrm>
          <a:prstGeom prst="rect">
            <a:avLst>
              <a:gd name="adj" fmla="val 12500"/>
            </a:avLst>
          </a:prstGeom>
          <a:solidFill>
            <a:srgbClr val="152240"/>
          </a:solidFill>
          <a:ln w="635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663440" y="3785616"/>
            <a:ext cx="50292" cy="512064"/>
          </a:xfrm>
          <a:prstGeom prst="rect">
            <a:avLst/>
          </a:prstGeom>
          <a:solidFill>
            <a:srgbClr val="25D366"/>
          </a:solidFill>
          <a:ln/>
        </p:spPr>
      </p:sp>
      <p:sp>
        <p:nvSpPr>
          <p:cNvPr id="43" name="Shape 41"/>
          <p:cNvSpPr/>
          <p:nvPr/>
        </p:nvSpPr>
        <p:spPr>
          <a:xfrm>
            <a:off x="4773168" y="3877056"/>
            <a:ext cx="822960" cy="256032"/>
          </a:xfrm>
          <a:prstGeom prst="rect">
            <a:avLst>
              <a:gd name="adj" fmla="val 50000"/>
            </a:avLst>
          </a:prstGeom>
          <a:solidFill>
            <a:srgbClr val="060D1A"/>
          </a:solidFill>
          <a:ln/>
        </p:spPr>
      </p:sp>
      <p:sp>
        <p:nvSpPr>
          <p:cNvPr id="44" name="Text 42"/>
          <p:cNvSpPr/>
          <p:nvPr/>
        </p:nvSpPr>
        <p:spPr>
          <a:xfrm>
            <a:off x="4773168" y="3877056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0A5FA"/>
                </a:solidFill>
              </a:rPr>
              <a:t>Location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773168" y="4059936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C890"/>
                </a:solidFill>
              </a:rPr>
              <a:t>"Hi! I'd like to visit the gym for a trial."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4663440" y="4370832"/>
            <a:ext cx="4114800" cy="512064"/>
          </a:xfrm>
          <a:prstGeom prst="rect">
            <a:avLst>
              <a:gd name="adj" fmla="val 12500"/>
            </a:avLst>
          </a:prstGeom>
          <a:solidFill>
            <a:srgbClr val="152240"/>
          </a:solidFill>
          <a:ln w="635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12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663440" y="4370832"/>
            <a:ext cx="50292" cy="512064"/>
          </a:xfrm>
          <a:prstGeom prst="rect">
            <a:avLst/>
          </a:prstGeom>
          <a:solidFill>
            <a:srgbClr val="25D366"/>
          </a:solidFill>
          <a:ln/>
        </p:spPr>
      </p:sp>
      <p:sp>
        <p:nvSpPr>
          <p:cNvPr id="48" name="Shape 46"/>
          <p:cNvSpPr/>
          <p:nvPr/>
        </p:nvSpPr>
        <p:spPr>
          <a:xfrm>
            <a:off x="4773168" y="4462272"/>
            <a:ext cx="822960" cy="256032"/>
          </a:xfrm>
          <a:prstGeom prst="rect">
            <a:avLst>
              <a:gd name="adj" fmla="val 50000"/>
            </a:avLst>
          </a:prstGeom>
          <a:solidFill>
            <a:srgbClr val="060D1A"/>
          </a:solidFill>
          <a:ln/>
        </p:spPr>
      </p:sp>
      <p:sp>
        <p:nvSpPr>
          <p:cNvPr id="49" name="Text 47"/>
          <p:cNvSpPr/>
          <p:nvPr/>
        </p:nvSpPr>
        <p:spPr>
          <a:xfrm>
            <a:off x="4773168" y="446227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0A5FA"/>
                </a:solidFill>
              </a:rPr>
              <a:t>AI Plan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4773168" y="464515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C890"/>
                </a:solidFill>
              </a:rPr>
              <a:t>"[Lead data captured before PDF download]"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4663440" y="4754880"/>
            <a:ext cx="4114800" cy="256032"/>
          </a:xfrm>
          <a:prstGeom prst="rect">
            <a:avLst>
              <a:gd name="adj" fmla="val 21429"/>
            </a:avLst>
          </a:prstGeom>
          <a:solidFill>
            <a:srgbClr val="25D366">
              <a:alpha val="15000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4754880" y="47548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E890"/>
                </a:solidFill>
              </a:rPr>
              <a:t>Lead phone + consent captured via /api/leads before PDF download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828800" cy="256032"/>
          </a:xfrm>
          <a:prstGeom prst="rect">
            <a:avLst>
              <a:gd name="adj" fmla="val 50000"/>
            </a:avLst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TRAINER NETWORK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212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Expert trainers. Transparent profiles.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4069080" cy="1719072"/>
          </a:xfrm>
          <a:prstGeom prst="rect">
            <a:avLst>
              <a:gd name="adj" fmla="val 531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61872"/>
            <a:ext cx="4069080" cy="5029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Shape 5"/>
          <p:cNvSpPr/>
          <p:nvPr/>
        </p:nvSpPr>
        <p:spPr>
          <a:xfrm>
            <a:off x="621792" y="1463040"/>
            <a:ext cx="777240" cy="777240"/>
          </a:xfrm>
          <a:prstGeom prst="ellipse">
            <a:avLst/>
          </a:prstGeom>
          <a:solidFill>
            <a:srgbClr val="3B82F6">
              <a:alpha val="85000"/>
            </a:srgbClr>
          </a:solidFill>
          <a:ln w="19050">
            <a:solidFill>
              <a:srgbClr val="3B82F6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4630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AV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517904" y="146304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Arjun Verma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517904" y="1828800"/>
            <a:ext cx="1097280" cy="256032"/>
          </a:xfrm>
          <a:prstGeom prst="rect">
            <a:avLst>
              <a:gd name="adj" fmla="val 50000"/>
            </a:avLst>
          </a:prstGeom>
          <a:solidFill>
            <a:srgbClr val="3B82F6"/>
          </a:solidFill>
          <a:ln/>
        </p:spPr>
      </p:sp>
      <p:sp>
        <p:nvSpPr>
          <p:cNvPr id="11" name="Text 9"/>
          <p:cNvSpPr/>
          <p:nvPr/>
        </p:nvSpPr>
        <p:spPr>
          <a:xfrm>
            <a:off x="1517904" y="182880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Strength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788920" y="1828800"/>
            <a:ext cx="1508760" cy="256032"/>
          </a:xfrm>
          <a:prstGeom prst="rect">
            <a:avLst>
              <a:gd name="adj" fmla="val 50000"/>
            </a:avLst>
          </a:prstGeom>
          <a:solidFill>
            <a:srgbClr val="060D1A"/>
          </a:solidFill>
          <a:ln/>
        </p:spPr>
      </p:sp>
      <p:sp>
        <p:nvSpPr>
          <p:cNvPr id="13" name="Text 11"/>
          <p:cNvSpPr/>
          <p:nvPr/>
        </p:nvSpPr>
        <p:spPr>
          <a:xfrm>
            <a:off x="2788920" y="182880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</a:rPr>
              <a:t>6+ yrs exp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1517904" y="2231136"/>
            <a:ext cx="914400" cy="237744"/>
          </a:xfrm>
          <a:prstGeom prst="rect">
            <a:avLst>
              <a:gd name="adj" fmla="val 50000"/>
            </a:avLst>
          </a:prstGeom>
          <a:solidFill>
            <a:srgbClr val="3B82F6">
              <a:alpha val="1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517904" y="223113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B82F6"/>
                </a:solidFill>
              </a:rPr>
              <a:t>Squat / Deadlift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2505456" y="2231136"/>
            <a:ext cx="914400" cy="237744"/>
          </a:xfrm>
          <a:prstGeom prst="rect">
            <a:avLst>
              <a:gd name="adj" fmla="val 50000"/>
            </a:avLst>
          </a:prstGeom>
          <a:solidFill>
            <a:srgbClr val="3B82F6">
              <a:alpha val="15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2505456" y="223113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B82F6"/>
                </a:solidFill>
              </a:rPr>
              <a:t>Form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3493008" y="2231136"/>
            <a:ext cx="914400" cy="237744"/>
          </a:xfrm>
          <a:prstGeom prst="rect">
            <a:avLst>
              <a:gd name="adj" fmla="val 50000"/>
            </a:avLst>
          </a:prstGeom>
          <a:solidFill>
            <a:srgbClr val="3B82F6">
              <a:alpha val="15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3493008" y="223113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3B82F6"/>
                </a:solidFill>
              </a:rPr>
              <a:t>Progression</a:t>
            </a:r>
            <a:endParaRPr lang="en-US" sz="75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17904" y="2596896"/>
            <a:ext cx="201168" cy="201168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773936" y="2596896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Mon–Sat  Mornings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4754880" y="1261872"/>
            <a:ext cx="4069080" cy="1719072"/>
          </a:xfrm>
          <a:prstGeom prst="rect">
            <a:avLst>
              <a:gd name="adj" fmla="val 531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754880" y="1261872"/>
            <a:ext cx="4069080" cy="5029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4" name="Shape 21"/>
          <p:cNvSpPr/>
          <p:nvPr/>
        </p:nvSpPr>
        <p:spPr>
          <a:xfrm>
            <a:off x="4919472" y="1463040"/>
            <a:ext cx="777240" cy="777240"/>
          </a:xfrm>
          <a:prstGeom prst="ellipse">
            <a:avLst/>
          </a:prstGeom>
          <a:solidFill>
            <a:srgbClr val="EF4444">
              <a:alpha val="85000"/>
            </a:srgbClr>
          </a:solidFill>
          <a:ln w="19050">
            <a:solidFill>
              <a:srgbClr val="EF4444">
                <a:alpha val="60000"/>
              </a:srgbClr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4919472" y="14630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RS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5815584" y="146304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Riya Singh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5815584" y="1828800"/>
            <a:ext cx="1097280" cy="256032"/>
          </a:xfrm>
          <a:prstGeom prst="rect">
            <a:avLst>
              <a:gd name="adj" fmla="val 50000"/>
            </a:avLst>
          </a:prstGeom>
          <a:solidFill>
            <a:srgbClr val="EF4444"/>
          </a:solidFill>
          <a:ln/>
        </p:spPr>
      </p:sp>
      <p:sp>
        <p:nvSpPr>
          <p:cNvPr id="28" name="Text 25"/>
          <p:cNvSpPr/>
          <p:nvPr/>
        </p:nvSpPr>
        <p:spPr>
          <a:xfrm>
            <a:off x="5815584" y="182880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Fat Loss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7086600" y="1828800"/>
            <a:ext cx="1508760" cy="256032"/>
          </a:xfrm>
          <a:prstGeom prst="rect">
            <a:avLst>
              <a:gd name="adj" fmla="val 50000"/>
            </a:avLst>
          </a:prstGeom>
          <a:solidFill>
            <a:srgbClr val="060D1A"/>
          </a:solidFill>
          <a:ln/>
        </p:spPr>
      </p:sp>
      <p:sp>
        <p:nvSpPr>
          <p:cNvPr id="30" name="Text 27"/>
          <p:cNvSpPr/>
          <p:nvPr/>
        </p:nvSpPr>
        <p:spPr>
          <a:xfrm>
            <a:off x="7086600" y="1828800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</a:rPr>
              <a:t>5+ yrs exp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5815584" y="2231136"/>
            <a:ext cx="914400" cy="237744"/>
          </a:xfrm>
          <a:prstGeom prst="rect">
            <a:avLst>
              <a:gd name="adj" fmla="val 50000"/>
            </a:avLst>
          </a:prstGeom>
          <a:solidFill>
            <a:srgbClr val="EF4444">
              <a:alpha val="15000"/>
            </a:srgbClr>
          </a:solidFill>
          <a:ln/>
        </p:spPr>
      </p:sp>
      <p:sp>
        <p:nvSpPr>
          <p:cNvPr id="32" name="Text 29"/>
          <p:cNvSpPr/>
          <p:nvPr/>
        </p:nvSpPr>
        <p:spPr>
          <a:xfrm>
            <a:off x="5815584" y="223113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F4444"/>
                </a:solidFill>
              </a:rPr>
              <a:t>HIIT</a:t>
            </a:r>
            <a:endParaRPr lang="en-US" sz="750" dirty="0"/>
          </a:p>
        </p:txBody>
      </p:sp>
      <p:sp>
        <p:nvSpPr>
          <p:cNvPr id="33" name="Shape 30"/>
          <p:cNvSpPr/>
          <p:nvPr/>
        </p:nvSpPr>
        <p:spPr>
          <a:xfrm>
            <a:off x="6803136" y="2231136"/>
            <a:ext cx="914400" cy="237744"/>
          </a:xfrm>
          <a:prstGeom prst="rect">
            <a:avLst>
              <a:gd name="adj" fmla="val 50000"/>
            </a:avLst>
          </a:prstGeom>
          <a:solidFill>
            <a:srgbClr val="EF4444">
              <a:alpha val="15000"/>
            </a:srgbClr>
          </a:solidFill>
          <a:ln/>
        </p:spPr>
      </p:sp>
      <p:sp>
        <p:nvSpPr>
          <p:cNvPr id="34" name="Text 31"/>
          <p:cNvSpPr/>
          <p:nvPr/>
        </p:nvSpPr>
        <p:spPr>
          <a:xfrm>
            <a:off x="6803136" y="223113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F4444"/>
                </a:solidFill>
              </a:rPr>
              <a:t>Cardio Plan</a:t>
            </a:r>
            <a:endParaRPr lang="en-US" sz="750" dirty="0"/>
          </a:p>
        </p:txBody>
      </p:sp>
      <p:sp>
        <p:nvSpPr>
          <p:cNvPr id="35" name="Shape 32"/>
          <p:cNvSpPr/>
          <p:nvPr/>
        </p:nvSpPr>
        <p:spPr>
          <a:xfrm>
            <a:off x="7790688" y="2231136"/>
            <a:ext cx="914400" cy="237744"/>
          </a:xfrm>
          <a:prstGeom prst="rect">
            <a:avLst>
              <a:gd name="adj" fmla="val 50000"/>
            </a:avLst>
          </a:prstGeom>
          <a:solidFill>
            <a:srgbClr val="EF4444">
              <a:alpha val="15000"/>
            </a:srgbClr>
          </a:solidFill>
          <a:ln/>
        </p:spPr>
      </p:sp>
      <p:sp>
        <p:nvSpPr>
          <p:cNvPr id="36" name="Text 33"/>
          <p:cNvSpPr/>
          <p:nvPr/>
        </p:nvSpPr>
        <p:spPr>
          <a:xfrm>
            <a:off x="7790688" y="223113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F4444"/>
                </a:solidFill>
              </a:rPr>
              <a:t>Fat Loss</a:t>
            </a:r>
            <a:endParaRPr lang="en-US" sz="750" dirty="0"/>
          </a:p>
        </p:txBody>
      </p:sp>
      <p:pic>
        <p:nvPicPr>
          <p:cNvPr id="3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5584" y="2596896"/>
            <a:ext cx="201168" cy="201168"/>
          </a:xfrm>
          <a:prstGeom prst="rect">
            <a:avLst/>
          </a:prstGeom>
        </p:spPr>
      </p:pic>
      <p:sp>
        <p:nvSpPr>
          <p:cNvPr id="38" name="Text 34"/>
          <p:cNvSpPr/>
          <p:nvPr/>
        </p:nvSpPr>
        <p:spPr>
          <a:xfrm>
            <a:off x="6071616" y="2596896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Mon–Fri  Evenings</a:t>
            </a:r>
            <a:endParaRPr lang="en-US" sz="900" dirty="0"/>
          </a:p>
        </p:txBody>
      </p:sp>
      <p:sp>
        <p:nvSpPr>
          <p:cNvPr id="39" name="Shape 35"/>
          <p:cNvSpPr/>
          <p:nvPr/>
        </p:nvSpPr>
        <p:spPr>
          <a:xfrm>
            <a:off x="457200" y="3163824"/>
            <a:ext cx="4069080" cy="1719072"/>
          </a:xfrm>
          <a:prstGeom prst="rect">
            <a:avLst>
              <a:gd name="adj" fmla="val 531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6"/>
          <p:cNvSpPr/>
          <p:nvPr/>
        </p:nvSpPr>
        <p:spPr>
          <a:xfrm>
            <a:off x="457200" y="3163824"/>
            <a:ext cx="4069080" cy="5029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1" name="Shape 37"/>
          <p:cNvSpPr/>
          <p:nvPr/>
        </p:nvSpPr>
        <p:spPr>
          <a:xfrm>
            <a:off x="621792" y="3364992"/>
            <a:ext cx="777240" cy="777240"/>
          </a:xfrm>
          <a:prstGeom prst="ellipse">
            <a:avLst/>
          </a:prstGeom>
          <a:solidFill>
            <a:srgbClr val="10B981">
              <a:alpha val="85000"/>
            </a:srgbClr>
          </a:solidFill>
          <a:ln w="19050">
            <a:solidFill>
              <a:srgbClr val="10B981">
                <a:alpha val="60000"/>
              </a:srgbClr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621792" y="336499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KM</a:t>
            </a:r>
            <a:endParaRPr lang="en-US" sz="1800" dirty="0"/>
          </a:p>
        </p:txBody>
      </p:sp>
      <p:sp>
        <p:nvSpPr>
          <p:cNvPr id="43" name="Text 39"/>
          <p:cNvSpPr/>
          <p:nvPr/>
        </p:nvSpPr>
        <p:spPr>
          <a:xfrm>
            <a:off x="1517904" y="3364992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Karan Mehta</a:t>
            </a:r>
            <a:endParaRPr lang="en-US" sz="1300" dirty="0"/>
          </a:p>
        </p:txBody>
      </p:sp>
      <p:sp>
        <p:nvSpPr>
          <p:cNvPr id="44" name="Shape 40"/>
          <p:cNvSpPr/>
          <p:nvPr/>
        </p:nvSpPr>
        <p:spPr>
          <a:xfrm>
            <a:off x="1517904" y="3730752"/>
            <a:ext cx="1097280" cy="256032"/>
          </a:xfrm>
          <a:prstGeom prst="rect">
            <a:avLst>
              <a:gd name="adj" fmla="val 50000"/>
            </a:avLst>
          </a:prstGeom>
          <a:solidFill>
            <a:srgbClr val="10B981"/>
          </a:solidFill>
          <a:ln/>
        </p:spPr>
      </p:sp>
      <p:sp>
        <p:nvSpPr>
          <p:cNvPr id="45" name="Text 41"/>
          <p:cNvSpPr/>
          <p:nvPr/>
        </p:nvSpPr>
        <p:spPr>
          <a:xfrm>
            <a:off x="1517904" y="37307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Muscle Gain</a:t>
            </a:r>
            <a:endParaRPr lang="en-US" sz="800" dirty="0"/>
          </a:p>
        </p:txBody>
      </p:sp>
      <p:sp>
        <p:nvSpPr>
          <p:cNvPr id="46" name="Shape 42"/>
          <p:cNvSpPr/>
          <p:nvPr/>
        </p:nvSpPr>
        <p:spPr>
          <a:xfrm>
            <a:off x="2788920" y="3730752"/>
            <a:ext cx="1508760" cy="256032"/>
          </a:xfrm>
          <a:prstGeom prst="rect">
            <a:avLst>
              <a:gd name="adj" fmla="val 50000"/>
            </a:avLst>
          </a:prstGeom>
          <a:solidFill>
            <a:srgbClr val="060D1A"/>
          </a:solidFill>
          <a:ln/>
        </p:spPr>
      </p:sp>
      <p:sp>
        <p:nvSpPr>
          <p:cNvPr id="47" name="Text 43"/>
          <p:cNvSpPr/>
          <p:nvPr/>
        </p:nvSpPr>
        <p:spPr>
          <a:xfrm>
            <a:off x="2788920" y="373075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</a:rPr>
              <a:t>7+ yrs exp</a:t>
            </a:r>
            <a:endParaRPr lang="en-US" sz="850" dirty="0"/>
          </a:p>
        </p:txBody>
      </p:sp>
      <p:sp>
        <p:nvSpPr>
          <p:cNvPr id="48" name="Shape 44"/>
          <p:cNvSpPr/>
          <p:nvPr/>
        </p:nvSpPr>
        <p:spPr>
          <a:xfrm>
            <a:off x="1517904" y="4133088"/>
            <a:ext cx="914400" cy="237744"/>
          </a:xfrm>
          <a:prstGeom prst="rect">
            <a:avLst>
              <a:gd name="adj" fmla="val 50000"/>
            </a:avLst>
          </a:prstGeom>
          <a:solidFill>
            <a:srgbClr val="10B981">
              <a:alpha val="15000"/>
            </a:srgbClr>
          </a:solidFill>
          <a:ln/>
        </p:spPr>
      </p:sp>
      <p:sp>
        <p:nvSpPr>
          <p:cNvPr id="49" name="Text 45"/>
          <p:cNvSpPr/>
          <p:nvPr/>
        </p:nvSpPr>
        <p:spPr>
          <a:xfrm>
            <a:off x="1517904" y="413308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0B981"/>
                </a:solidFill>
              </a:rPr>
              <a:t>Hypertrophy</a:t>
            </a:r>
            <a:endParaRPr lang="en-US" sz="750" dirty="0"/>
          </a:p>
        </p:txBody>
      </p:sp>
      <p:sp>
        <p:nvSpPr>
          <p:cNvPr id="50" name="Shape 46"/>
          <p:cNvSpPr/>
          <p:nvPr/>
        </p:nvSpPr>
        <p:spPr>
          <a:xfrm>
            <a:off x="2505456" y="4133088"/>
            <a:ext cx="914400" cy="237744"/>
          </a:xfrm>
          <a:prstGeom prst="rect">
            <a:avLst>
              <a:gd name="adj" fmla="val 50000"/>
            </a:avLst>
          </a:prstGeom>
          <a:solidFill>
            <a:srgbClr val="10B981">
              <a:alpha val="15000"/>
            </a:srgbClr>
          </a:solidFill>
          <a:ln/>
        </p:spPr>
      </p:sp>
      <p:sp>
        <p:nvSpPr>
          <p:cNvPr id="51" name="Text 47"/>
          <p:cNvSpPr/>
          <p:nvPr/>
        </p:nvSpPr>
        <p:spPr>
          <a:xfrm>
            <a:off x="2505456" y="413308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0B981"/>
                </a:solidFill>
              </a:rPr>
              <a:t>Upper/Lower</a:t>
            </a:r>
            <a:endParaRPr lang="en-US" sz="750" dirty="0"/>
          </a:p>
        </p:txBody>
      </p:sp>
      <p:sp>
        <p:nvSpPr>
          <p:cNvPr id="52" name="Shape 48"/>
          <p:cNvSpPr/>
          <p:nvPr/>
        </p:nvSpPr>
        <p:spPr>
          <a:xfrm>
            <a:off x="3493008" y="4133088"/>
            <a:ext cx="914400" cy="237744"/>
          </a:xfrm>
          <a:prstGeom prst="rect">
            <a:avLst>
              <a:gd name="adj" fmla="val 50000"/>
            </a:avLst>
          </a:prstGeom>
          <a:solidFill>
            <a:srgbClr val="10B981">
              <a:alpha val="15000"/>
            </a:srgbClr>
          </a:solidFill>
          <a:ln/>
        </p:spPr>
      </p:sp>
      <p:sp>
        <p:nvSpPr>
          <p:cNvPr id="53" name="Text 49"/>
          <p:cNvSpPr/>
          <p:nvPr/>
        </p:nvSpPr>
        <p:spPr>
          <a:xfrm>
            <a:off x="3493008" y="413308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0B981"/>
                </a:solidFill>
              </a:rPr>
              <a:t>Accessory Work</a:t>
            </a:r>
            <a:endParaRPr lang="en-US" sz="750" dirty="0"/>
          </a:p>
        </p:txBody>
      </p:sp>
      <p:pic>
        <p:nvPicPr>
          <p:cNvPr id="5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7904" y="4498848"/>
            <a:ext cx="201168" cy="201168"/>
          </a:xfrm>
          <a:prstGeom prst="rect">
            <a:avLst/>
          </a:prstGeom>
        </p:spPr>
      </p:pic>
      <p:sp>
        <p:nvSpPr>
          <p:cNvPr id="55" name="Text 50"/>
          <p:cNvSpPr/>
          <p:nvPr/>
        </p:nvSpPr>
        <p:spPr>
          <a:xfrm>
            <a:off x="1773936" y="449884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Wed–Sun  Flexible</a:t>
            </a:r>
            <a:endParaRPr lang="en-US" sz="900" dirty="0"/>
          </a:p>
        </p:txBody>
      </p:sp>
      <p:sp>
        <p:nvSpPr>
          <p:cNvPr id="56" name="Shape 51"/>
          <p:cNvSpPr/>
          <p:nvPr/>
        </p:nvSpPr>
        <p:spPr>
          <a:xfrm>
            <a:off x="4754880" y="3163824"/>
            <a:ext cx="4069080" cy="1719072"/>
          </a:xfrm>
          <a:prstGeom prst="rect">
            <a:avLst>
              <a:gd name="adj" fmla="val 5319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12000"/>
              </a:srgbClr>
            </a:outerShdw>
          </a:effectLst>
        </p:spPr>
      </p:sp>
      <p:sp>
        <p:nvSpPr>
          <p:cNvPr id="57" name="Shape 52"/>
          <p:cNvSpPr/>
          <p:nvPr/>
        </p:nvSpPr>
        <p:spPr>
          <a:xfrm>
            <a:off x="4754880" y="3163824"/>
            <a:ext cx="4069080" cy="5029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58" name="Shape 53"/>
          <p:cNvSpPr/>
          <p:nvPr/>
        </p:nvSpPr>
        <p:spPr>
          <a:xfrm>
            <a:off x="4919472" y="3364992"/>
            <a:ext cx="777240" cy="777240"/>
          </a:xfrm>
          <a:prstGeom prst="ellipse">
            <a:avLst/>
          </a:prstGeom>
          <a:solidFill>
            <a:srgbClr val="F59E0B">
              <a:alpha val="85000"/>
            </a:srgbClr>
          </a:solidFill>
          <a:ln w="19050">
            <a:solidFill>
              <a:srgbClr val="F59E0B">
                <a:alpha val="60000"/>
              </a:srgbClr>
            </a:solidFill>
            <a:prstDash val="solid"/>
          </a:ln>
        </p:spPr>
      </p:sp>
      <p:sp>
        <p:nvSpPr>
          <p:cNvPr id="59" name="Text 54"/>
          <p:cNvSpPr/>
          <p:nvPr/>
        </p:nvSpPr>
        <p:spPr>
          <a:xfrm>
            <a:off x="4919472" y="3364992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NS</a:t>
            </a:r>
            <a:endParaRPr lang="en-US" sz="1800" dirty="0"/>
          </a:p>
        </p:txBody>
      </p:sp>
      <p:sp>
        <p:nvSpPr>
          <p:cNvPr id="60" name="Text 55"/>
          <p:cNvSpPr/>
          <p:nvPr/>
        </p:nvSpPr>
        <p:spPr>
          <a:xfrm>
            <a:off x="5815584" y="3364992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Neha Sharma</a:t>
            </a:r>
            <a:endParaRPr lang="en-US" sz="1300" dirty="0"/>
          </a:p>
        </p:txBody>
      </p:sp>
      <p:sp>
        <p:nvSpPr>
          <p:cNvPr id="61" name="Shape 56"/>
          <p:cNvSpPr/>
          <p:nvPr/>
        </p:nvSpPr>
        <p:spPr>
          <a:xfrm>
            <a:off x="5815584" y="3730752"/>
            <a:ext cx="1097280" cy="256032"/>
          </a:xfrm>
          <a:prstGeom prst="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62" name="Text 57"/>
          <p:cNvSpPr/>
          <p:nvPr/>
        </p:nvSpPr>
        <p:spPr>
          <a:xfrm>
            <a:off x="5815584" y="37307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Mobility</a:t>
            </a:r>
            <a:endParaRPr lang="en-US" sz="800" dirty="0"/>
          </a:p>
        </p:txBody>
      </p:sp>
      <p:sp>
        <p:nvSpPr>
          <p:cNvPr id="63" name="Shape 58"/>
          <p:cNvSpPr/>
          <p:nvPr/>
        </p:nvSpPr>
        <p:spPr>
          <a:xfrm>
            <a:off x="7086600" y="3730752"/>
            <a:ext cx="1508760" cy="256032"/>
          </a:xfrm>
          <a:prstGeom prst="rect">
            <a:avLst>
              <a:gd name="adj" fmla="val 50000"/>
            </a:avLst>
          </a:prstGeom>
          <a:solidFill>
            <a:srgbClr val="060D1A"/>
          </a:solidFill>
          <a:ln/>
        </p:spPr>
      </p:sp>
      <p:sp>
        <p:nvSpPr>
          <p:cNvPr id="64" name="Text 59"/>
          <p:cNvSpPr/>
          <p:nvPr/>
        </p:nvSpPr>
        <p:spPr>
          <a:xfrm>
            <a:off x="7086600" y="3730752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</a:rPr>
              <a:t>4+ yrs exp</a:t>
            </a:r>
            <a:endParaRPr lang="en-US" sz="850" dirty="0"/>
          </a:p>
        </p:txBody>
      </p:sp>
      <p:sp>
        <p:nvSpPr>
          <p:cNvPr id="65" name="Shape 60"/>
          <p:cNvSpPr/>
          <p:nvPr/>
        </p:nvSpPr>
        <p:spPr>
          <a:xfrm>
            <a:off x="5815584" y="4133088"/>
            <a:ext cx="914400" cy="237744"/>
          </a:xfrm>
          <a:prstGeom prst="rect">
            <a:avLst>
              <a:gd name="adj" fmla="val 50000"/>
            </a:avLst>
          </a:prstGeom>
          <a:solidFill>
            <a:srgbClr val="F59E0B">
              <a:alpha val="15000"/>
            </a:srgbClr>
          </a:solidFill>
          <a:ln/>
        </p:spPr>
      </p:sp>
      <p:sp>
        <p:nvSpPr>
          <p:cNvPr id="66" name="Text 61"/>
          <p:cNvSpPr/>
          <p:nvPr/>
        </p:nvSpPr>
        <p:spPr>
          <a:xfrm>
            <a:off x="5815584" y="413308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59E0B"/>
                </a:solidFill>
              </a:rPr>
              <a:t>Mobility Flow</a:t>
            </a:r>
            <a:endParaRPr lang="en-US" sz="750" dirty="0"/>
          </a:p>
        </p:txBody>
      </p:sp>
      <p:sp>
        <p:nvSpPr>
          <p:cNvPr id="67" name="Shape 62"/>
          <p:cNvSpPr/>
          <p:nvPr/>
        </p:nvSpPr>
        <p:spPr>
          <a:xfrm>
            <a:off x="6803136" y="4133088"/>
            <a:ext cx="914400" cy="237744"/>
          </a:xfrm>
          <a:prstGeom prst="rect">
            <a:avLst>
              <a:gd name="adj" fmla="val 50000"/>
            </a:avLst>
          </a:prstGeom>
          <a:solidFill>
            <a:srgbClr val="F59E0B">
              <a:alpha val="15000"/>
            </a:srgbClr>
          </a:solidFill>
          <a:ln/>
        </p:spPr>
      </p:sp>
      <p:sp>
        <p:nvSpPr>
          <p:cNvPr id="68" name="Text 63"/>
          <p:cNvSpPr/>
          <p:nvPr/>
        </p:nvSpPr>
        <p:spPr>
          <a:xfrm>
            <a:off x="6803136" y="413308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59E0B"/>
                </a:solidFill>
              </a:rPr>
              <a:t>Core &amp; Posture</a:t>
            </a:r>
            <a:endParaRPr lang="en-US" sz="750" dirty="0"/>
          </a:p>
        </p:txBody>
      </p:sp>
      <p:sp>
        <p:nvSpPr>
          <p:cNvPr id="69" name="Shape 64"/>
          <p:cNvSpPr/>
          <p:nvPr/>
        </p:nvSpPr>
        <p:spPr>
          <a:xfrm>
            <a:off x="7790688" y="4133088"/>
            <a:ext cx="914400" cy="237744"/>
          </a:xfrm>
          <a:prstGeom prst="rect">
            <a:avLst>
              <a:gd name="adj" fmla="val 50000"/>
            </a:avLst>
          </a:prstGeom>
          <a:solidFill>
            <a:srgbClr val="F59E0B">
              <a:alpha val="15000"/>
            </a:srgbClr>
          </a:solidFill>
          <a:ln/>
        </p:spPr>
      </p:sp>
      <p:sp>
        <p:nvSpPr>
          <p:cNvPr id="70" name="Text 65"/>
          <p:cNvSpPr/>
          <p:nvPr/>
        </p:nvSpPr>
        <p:spPr>
          <a:xfrm>
            <a:off x="7790688" y="413308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59E0B"/>
                </a:solidFill>
              </a:rPr>
              <a:t>Warm-Up</a:t>
            </a:r>
            <a:endParaRPr lang="en-US" sz="750" dirty="0"/>
          </a:p>
        </p:txBody>
      </p:sp>
      <p:pic>
        <p:nvPicPr>
          <p:cNvPr id="7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15584" y="4498848"/>
            <a:ext cx="201168" cy="201168"/>
          </a:xfrm>
          <a:prstGeom prst="rect">
            <a:avLst/>
          </a:prstGeom>
        </p:spPr>
      </p:pic>
      <p:sp>
        <p:nvSpPr>
          <p:cNvPr id="72" name="Text 66"/>
          <p:cNvSpPr/>
          <p:nvPr/>
        </p:nvSpPr>
        <p:spPr>
          <a:xfrm>
            <a:off x="6071616" y="4498848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</a:rPr>
              <a:t>Tue–Sun  Mornings</a:t>
            </a:r>
            <a:endParaRPr lang="en-US" sz="900" dirty="0"/>
          </a:p>
        </p:txBody>
      </p:sp>
      <p:sp>
        <p:nvSpPr>
          <p:cNvPr id="73" name="Text 67"/>
          <p:cNvSpPr/>
          <p:nvPr/>
        </p:nvSpPr>
        <p:spPr>
          <a:xfrm>
            <a:off x="457200" y="484632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</a:rPr>
              <a:t>Hover-to-preview + click-to-lock UI  •  Mobile: inline expand  •  All certifications displayed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1828800"/>
            <a:ext cx="5486400" cy="5486400"/>
          </a:xfrm>
          <a:prstGeom prst="ellipse">
            <a:avLst/>
          </a:prstGeom>
          <a:solidFill>
            <a:srgbClr val="3B82F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720840" y="3063240"/>
            <a:ext cx="3017520" cy="3017520"/>
          </a:xfrm>
          <a:prstGeom prst="ellipse">
            <a:avLst/>
          </a:prstGeom>
          <a:solidFill>
            <a:srgbClr val="3B82F6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01168"/>
            <a:ext cx="1828800" cy="256032"/>
          </a:xfrm>
          <a:prstGeom prst="rect">
            <a:avLst>
              <a:gd name="adj" fmla="val 50000"/>
            </a:avLst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011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SMART SCHEDULE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50292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Goal-based slot recommendations</a:t>
            </a:r>
            <a:endParaRPr lang="en-US" sz="28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with crowd intelligence.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48132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How it works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847088"/>
            <a:ext cx="4114800" cy="594360"/>
          </a:xfrm>
          <a:prstGeom prst="rect">
            <a:avLst>
              <a:gd name="adj" fmla="val 10769"/>
            </a:avLst>
          </a:prstGeom>
          <a:solidFill>
            <a:srgbClr val="152240"/>
          </a:solidFill>
          <a:ln w="635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66928" y="1975104"/>
            <a:ext cx="347472" cy="34747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" y="19751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24128" y="190195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Select goal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24128" y="2176272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B0CC"/>
                </a:solidFill>
              </a:rPr>
              <a:t>Strength / Fat loss / Cardio / Beginner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542032"/>
            <a:ext cx="4114800" cy="594360"/>
          </a:xfrm>
          <a:prstGeom prst="rect">
            <a:avLst>
              <a:gd name="adj" fmla="val 10769"/>
            </a:avLst>
          </a:prstGeom>
          <a:solidFill>
            <a:srgbClr val="152240"/>
          </a:solidFill>
          <a:ln w="635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66928" y="2670048"/>
            <a:ext cx="347472" cy="34747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" y="26700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24128" y="259689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Choose morning/eve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24128" y="287121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B0CC"/>
                </a:solidFill>
              </a:rPr>
              <a:t>6AM–10AM or 4PM–10PM window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3236976"/>
            <a:ext cx="4114800" cy="594360"/>
          </a:xfrm>
          <a:prstGeom prst="rect">
            <a:avLst>
              <a:gd name="adj" fmla="val 10769"/>
            </a:avLst>
          </a:prstGeom>
          <a:solidFill>
            <a:srgbClr val="152240"/>
          </a:solidFill>
          <a:ln w="635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66928" y="3364992"/>
            <a:ext cx="347472" cy="34747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3364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24128" y="32918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See ranked slots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24128" y="356616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B0CC"/>
                </a:solidFill>
              </a:rPr>
              <a:t>Quiet → Normal → Peak crowd order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3931920"/>
            <a:ext cx="4114800" cy="594360"/>
          </a:xfrm>
          <a:prstGeom prst="rect">
            <a:avLst>
              <a:gd name="adj" fmla="val 10769"/>
            </a:avLst>
          </a:prstGeom>
          <a:solidFill>
            <a:srgbClr val="152240"/>
          </a:solidFill>
          <a:ln w="635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66928" y="4059936"/>
            <a:ext cx="347472" cy="347472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5" name="Text 23"/>
          <p:cNvSpPr/>
          <p:nvPr/>
        </p:nvSpPr>
        <p:spPr>
          <a:xfrm>
            <a:off x="566928" y="40599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24128" y="398678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Get recommendation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24128" y="4261104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0B0CC"/>
                </a:solidFill>
              </a:rPr>
              <a:t>Best slot highlighted with tip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46320" y="148132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Morning slots  •  Strength goal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46320" y="1847088"/>
            <a:ext cx="1920240" cy="804672"/>
          </a:xfrm>
          <a:prstGeom prst="rect">
            <a:avLst>
              <a:gd name="adj" fmla="val 9091"/>
            </a:avLst>
          </a:prstGeom>
          <a:solidFill>
            <a:srgbClr val="152240"/>
          </a:solidFill>
          <a:ln w="635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46320" y="1847088"/>
            <a:ext cx="1920240" cy="5029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4956048" y="1938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6:00 AM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956048" y="22311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B0CC"/>
                </a:solidFill>
              </a:rPr>
              <a:t>General training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08192" y="1938528"/>
            <a:ext cx="566928" cy="219456"/>
          </a:xfrm>
          <a:prstGeom prst="rect">
            <a:avLst>
              <a:gd name="adj" fmla="val 50000"/>
            </a:avLst>
          </a:prstGeom>
          <a:solidFill>
            <a:srgbClr val="F59E0B">
              <a:alpha val="25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6108192" y="1938528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Normal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6108192" y="2212848"/>
            <a:ext cx="566928" cy="219456"/>
          </a:xfrm>
          <a:prstGeom prst="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36" name="Text 34"/>
          <p:cNvSpPr/>
          <p:nvPr/>
        </p:nvSpPr>
        <p:spPr>
          <a:xfrm>
            <a:off x="6108192" y="2212848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60D1A"/>
                </a:solidFill>
              </a:rPr>
              <a:t>Best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6931152" y="1847088"/>
            <a:ext cx="1920240" cy="804672"/>
          </a:xfrm>
          <a:prstGeom prst="rect">
            <a:avLst>
              <a:gd name="adj" fmla="val 9091"/>
            </a:avLst>
          </a:prstGeom>
          <a:solidFill>
            <a:srgbClr val="152240"/>
          </a:solidFill>
          <a:ln w="635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7040880" y="19385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7:30 AM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040880" y="22311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B0CC"/>
                </a:solidFill>
              </a:rPr>
              <a:t>Strength focus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8193024" y="1938528"/>
            <a:ext cx="566928" cy="219456"/>
          </a:xfrm>
          <a:prstGeom prst="rect">
            <a:avLst>
              <a:gd name="adj" fmla="val 50000"/>
            </a:avLst>
          </a:prstGeom>
          <a:solidFill>
            <a:srgbClr val="EF4444">
              <a:alpha val="25000"/>
            </a:srgbClr>
          </a:solidFill>
          <a:ln/>
        </p:spPr>
      </p:sp>
      <p:sp>
        <p:nvSpPr>
          <p:cNvPr id="41" name="Text 39"/>
          <p:cNvSpPr/>
          <p:nvPr/>
        </p:nvSpPr>
        <p:spPr>
          <a:xfrm>
            <a:off x="8193024" y="1938528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Peak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4846320" y="2761488"/>
            <a:ext cx="1920240" cy="804672"/>
          </a:xfrm>
          <a:prstGeom prst="rect">
            <a:avLst>
              <a:gd name="adj" fmla="val 9091"/>
            </a:avLst>
          </a:prstGeom>
          <a:solidFill>
            <a:srgbClr val="152240"/>
          </a:solidFill>
          <a:ln w="635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12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4956048" y="28529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9:00 AM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4956048" y="31455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B0CC"/>
                </a:solidFill>
              </a:rPr>
              <a:t>Cardio + core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6108192" y="2852928"/>
            <a:ext cx="566928" cy="219456"/>
          </a:xfrm>
          <a:prstGeom prst="rect">
            <a:avLst>
              <a:gd name="adj" fmla="val 50000"/>
            </a:avLst>
          </a:prstGeom>
          <a:solidFill>
            <a:srgbClr val="10B981">
              <a:alpha val="25000"/>
            </a:srgbClr>
          </a:solidFill>
          <a:ln/>
        </p:spPr>
      </p:sp>
      <p:sp>
        <p:nvSpPr>
          <p:cNvPr id="46" name="Text 44"/>
          <p:cNvSpPr/>
          <p:nvPr/>
        </p:nvSpPr>
        <p:spPr>
          <a:xfrm>
            <a:off x="6108192" y="2852928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Quiet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6931152" y="2761488"/>
            <a:ext cx="1920240" cy="804672"/>
          </a:xfrm>
          <a:prstGeom prst="rect">
            <a:avLst>
              <a:gd name="adj" fmla="val 9091"/>
            </a:avLst>
          </a:prstGeom>
          <a:solidFill>
            <a:srgbClr val="152240"/>
          </a:solidFill>
          <a:ln w="635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12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7040880" y="28529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5:30 PM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7040880" y="31455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B0CC"/>
                </a:solidFill>
              </a:rPr>
              <a:t>General training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8193024" y="2852928"/>
            <a:ext cx="566928" cy="219456"/>
          </a:xfrm>
          <a:prstGeom prst="rect">
            <a:avLst>
              <a:gd name="adj" fmla="val 50000"/>
            </a:avLst>
          </a:prstGeom>
          <a:solidFill>
            <a:srgbClr val="EF4444">
              <a:alpha val="25000"/>
            </a:srgbClr>
          </a:solidFill>
          <a:ln/>
        </p:spPr>
      </p:sp>
      <p:sp>
        <p:nvSpPr>
          <p:cNvPr id="51" name="Text 49"/>
          <p:cNvSpPr/>
          <p:nvPr/>
        </p:nvSpPr>
        <p:spPr>
          <a:xfrm>
            <a:off x="8193024" y="2852928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Peak</a:t>
            </a:r>
            <a:endParaRPr lang="en-US" sz="750" dirty="0"/>
          </a:p>
        </p:txBody>
      </p:sp>
      <p:sp>
        <p:nvSpPr>
          <p:cNvPr id="52" name="Shape 50"/>
          <p:cNvSpPr/>
          <p:nvPr/>
        </p:nvSpPr>
        <p:spPr>
          <a:xfrm>
            <a:off x="4846320" y="3675888"/>
            <a:ext cx="1920240" cy="804672"/>
          </a:xfrm>
          <a:prstGeom prst="rect">
            <a:avLst>
              <a:gd name="adj" fmla="val 9091"/>
            </a:avLst>
          </a:prstGeom>
          <a:solidFill>
            <a:srgbClr val="152240"/>
          </a:solidFill>
          <a:ln w="635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12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4956048" y="37673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7:00 PM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4956048" y="40599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B0CC"/>
                </a:solidFill>
              </a:rPr>
              <a:t>Fat loss circuit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6108192" y="3767328"/>
            <a:ext cx="566928" cy="219456"/>
          </a:xfrm>
          <a:prstGeom prst="rect">
            <a:avLst>
              <a:gd name="adj" fmla="val 50000"/>
            </a:avLst>
          </a:prstGeom>
          <a:solidFill>
            <a:srgbClr val="F59E0B">
              <a:alpha val="25000"/>
            </a:srgbClr>
          </a:solidFill>
          <a:ln/>
        </p:spPr>
      </p:sp>
      <p:sp>
        <p:nvSpPr>
          <p:cNvPr id="56" name="Text 54"/>
          <p:cNvSpPr/>
          <p:nvPr/>
        </p:nvSpPr>
        <p:spPr>
          <a:xfrm>
            <a:off x="6108192" y="3767328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Normal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6931152" y="3675888"/>
            <a:ext cx="1920240" cy="804672"/>
          </a:xfrm>
          <a:prstGeom prst="rect">
            <a:avLst>
              <a:gd name="adj" fmla="val 9091"/>
            </a:avLst>
          </a:prstGeom>
          <a:solidFill>
            <a:srgbClr val="152240"/>
          </a:solidFill>
          <a:ln w="635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12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7040880" y="37673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9:00 PM</a:t>
            </a:r>
            <a:endParaRPr lang="en-US" sz="1400" dirty="0"/>
          </a:p>
        </p:txBody>
      </p:sp>
      <p:sp>
        <p:nvSpPr>
          <p:cNvPr id="59" name="Text 57"/>
          <p:cNvSpPr/>
          <p:nvPr/>
        </p:nvSpPr>
        <p:spPr>
          <a:xfrm>
            <a:off x="7040880" y="4059936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0B0CC"/>
                </a:solidFill>
              </a:rPr>
              <a:t>Evening wind-down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8193024" y="3767328"/>
            <a:ext cx="566928" cy="219456"/>
          </a:xfrm>
          <a:prstGeom prst="rect">
            <a:avLst>
              <a:gd name="adj" fmla="val 50000"/>
            </a:avLst>
          </a:prstGeom>
          <a:solidFill>
            <a:srgbClr val="10B981">
              <a:alpha val="25000"/>
            </a:srgbClr>
          </a:solidFill>
          <a:ln/>
        </p:spPr>
      </p:sp>
      <p:sp>
        <p:nvSpPr>
          <p:cNvPr id="61" name="Text 59"/>
          <p:cNvSpPr/>
          <p:nvPr/>
        </p:nvSpPr>
        <p:spPr>
          <a:xfrm>
            <a:off x="8193024" y="3767328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Quiet</a:t>
            </a: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457200" y="4736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</a:rPr>
              <a:t>Open 6 AM – 10 PM Mon–Sat  •  7 AM – 12 PM Sun  •  Data-driven slot ranking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828800" cy="256032"/>
          </a:xfrm>
          <a:prstGeom prst="rect">
            <a:avLst>
              <a:gd name="adj" fmla="val 50000"/>
            </a:avLst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TECH ARCHITECTURE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21208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Production-ready 3-tier architecture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914400" cy="1207008"/>
          </a:xfrm>
          <a:prstGeom prst="rect">
            <a:avLst>
              <a:gd name="adj" fmla="val 7000"/>
            </a:avLst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61872"/>
            <a:ext cx="91440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PRESENTATION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Layer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457200" y="2633472"/>
            <a:ext cx="914400" cy="1207008"/>
          </a:xfrm>
          <a:prstGeom prst="rect">
            <a:avLst>
              <a:gd name="adj" fmla="val 7000"/>
            </a:avLst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633472"/>
            <a:ext cx="91440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APPLICATION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Layer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457200" y="3840480"/>
            <a:ext cx="914400" cy="960120"/>
          </a:xfrm>
          <a:prstGeom prst="rect">
            <a:avLst>
              <a:gd name="adj" fmla="val 7000"/>
            </a:avLst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3840480"/>
            <a:ext cx="914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SERVICES</a:t>
            </a:r>
            <a:endParaRPr lang="en-US" sz="750" dirty="0"/>
          </a:p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Layer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1508760" y="1298448"/>
            <a:ext cx="1325880" cy="1115568"/>
          </a:xfrm>
          <a:prstGeom prst="rect">
            <a:avLst>
              <a:gd name="adj" fmla="val 655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508760" y="1298448"/>
            <a:ext cx="132588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3" name="Text 11"/>
          <p:cNvSpPr/>
          <p:nvPr/>
        </p:nvSpPr>
        <p:spPr>
          <a:xfrm>
            <a:off x="1581912" y="1389888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React 19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Components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935224" y="1298448"/>
            <a:ext cx="1325880" cy="1115568"/>
          </a:xfrm>
          <a:prstGeom prst="rect">
            <a:avLst>
              <a:gd name="adj" fmla="val 655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935224" y="1298448"/>
            <a:ext cx="132588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3008376" y="1389888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Framer Motion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Animations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361688" y="1298448"/>
            <a:ext cx="1325880" cy="1115568"/>
          </a:xfrm>
          <a:prstGeom prst="rect">
            <a:avLst>
              <a:gd name="adj" fmla="val 655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361688" y="1298448"/>
            <a:ext cx="1325880" cy="45720"/>
          </a:xfrm>
          <a:prstGeom prst="rect">
            <a:avLst/>
          </a:prstGeom>
          <a:solidFill>
            <a:srgbClr val="0F1E35"/>
          </a:solidFill>
          <a:ln/>
        </p:spPr>
      </p:sp>
      <p:sp>
        <p:nvSpPr>
          <p:cNvPr id="19" name="Text 17"/>
          <p:cNvSpPr/>
          <p:nvPr/>
        </p:nvSpPr>
        <p:spPr>
          <a:xfrm>
            <a:off x="4434840" y="1389888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Tailwind v4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Styling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788152" y="1298448"/>
            <a:ext cx="1325880" cy="1115568"/>
          </a:xfrm>
          <a:prstGeom prst="rect">
            <a:avLst>
              <a:gd name="adj" fmla="val 655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788152" y="1298448"/>
            <a:ext cx="1325880" cy="45720"/>
          </a:xfrm>
          <a:prstGeom prst="rect">
            <a:avLst/>
          </a:prstGeom>
          <a:solidFill>
            <a:srgbClr val="0F1E35"/>
          </a:solidFill>
          <a:ln/>
        </p:spPr>
      </p:sp>
      <p:sp>
        <p:nvSpPr>
          <p:cNvPr id="22" name="Text 20"/>
          <p:cNvSpPr/>
          <p:nvPr/>
        </p:nvSpPr>
        <p:spPr>
          <a:xfrm>
            <a:off x="5861304" y="1389888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Three.js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R3F 3D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214616" y="1298448"/>
            <a:ext cx="1325880" cy="1115568"/>
          </a:xfrm>
          <a:prstGeom prst="rect">
            <a:avLst>
              <a:gd name="adj" fmla="val 6557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214616" y="1298448"/>
            <a:ext cx="1325880" cy="45720"/>
          </a:xfrm>
          <a:prstGeom prst="rect">
            <a:avLst/>
          </a:prstGeom>
          <a:solidFill>
            <a:srgbClr val="0F1E35"/>
          </a:solidFill>
          <a:ln/>
        </p:spPr>
      </p:sp>
      <p:sp>
        <p:nvSpPr>
          <p:cNvPr id="25" name="Text 23"/>
          <p:cNvSpPr/>
          <p:nvPr/>
        </p:nvSpPr>
        <p:spPr>
          <a:xfrm>
            <a:off x="7287768" y="1389888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Responsive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Mobile-first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508760" y="2670048"/>
            <a:ext cx="1325880" cy="1078992"/>
          </a:xfrm>
          <a:prstGeom prst="rect">
            <a:avLst>
              <a:gd name="adj" fmla="val 678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1508760" y="2670048"/>
            <a:ext cx="132588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8" name="Text 26"/>
          <p:cNvSpPr/>
          <p:nvPr/>
        </p:nvSpPr>
        <p:spPr>
          <a:xfrm>
            <a:off x="1581912" y="2761488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Next.js 16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App Router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935224" y="2670048"/>
            <a:ext cx="1325880" cy="1078992"/>
          </a:xfrm>
          <a:prstGeom prst="rect">
            <a:avLst>
              <a:gd name="adj" fmla="val 678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935224" y="2670048"/>
            <a:ext cx="132588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3008376" y="2761488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API Route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/api/plan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361688" y="2670048"/>
            <a:ext cx="1325880" cy="1078992"/>
          </a:xfrm>
          <a:prstGeom prst="rect">
            <a:avLst>
              <a:gd name="adj" fmla="val 678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361688" y="2670048"/>
            <a:ext cx="1325880" cy="457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4" name="Text 32"/>
          <p:cNvSpPr/>
          <p:nvPr/>
        </p:nvSpPr>
        <p:spPr>
          <a:xfrm>
            <a:off x="4434840" y="2761488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API Route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/api/leads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788152" y="2670048"/>
            <a:ext cx="1325880" cy="1078992"/>
          </a:xfrm>
          <a:prstGeom prst="rect">
            <a:avLst>
              <a:gd name="adj" fmla="val 678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788152" y="2670048"/>
            <a:ext cx="1325880" cy="45720"/>
          </a:xfrm>
          <a:prstGeom prst="rect">
            <a:avLst/>
          </a:prstGeom>
          <a:solidFill>
            <a:srgbClr val="0F1E35"/>
          </a:solidFill>
          <a:ln/>
        </p:spPr>
      </p:sp>
      <p:sp>
        <p:nvSpPr>
          <p:cNvPr id="37" name="Text 35"/>
          <p:cNvSpPr/>
          <p:nvPr/>
        </p:nvSpPr>
        <p:spPr>
          <a:xfrm>
            <a:off x="5861304" y="2761488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TypeScript 5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Type Safety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214616" y="2670048"/>
            <a:ext cx="1325880" cy="1078992"/>
          </a:xfrm>
          <a:prstGeom prst="rect">
            <a:avLst>
              <a:gd name="adj" fmla="val 6780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7214616" y="2670048"/>
            <a:ext cx="1325880" cy="45720"/>
          </a:xfrm>
          <a:prstGeom prst="rect">
            <a:avLst/>
          </a:prstGeom>
          <a:solidFill>
            <a:srgbClr val="0F1E35"/>
          </a:solidFill>
          <a:ln/>
        </p:spPr>
      </p:sp>
      <p:sp>
        <p:nvSpPr>
          <p:cNvPr id="40" name="Text 38"/>
          <p:cNvSpPr/>
          <p:nvPr/>
        </p:nvSpPr>
        <p:spPr>
          <a:xfrm>
            <a:off x="7287768" y="2761488"/>
            <a:ext cx="1188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ESLint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Code Quality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1508760" y="3877056"/>
            <a:ext cx="1325880" cy="896112"/>
          </a:xfrm>
          <a:prstGeom prst="rect">
            <a:avLst>
              <a:gd name="adj" fmla="val 816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1508760" y="3877056"/>
            <a:ext cx="132588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3" name="Text 41"/>
          <p:cNvSpPr/>
          <p:nvPr/>
        </p:nvSpPr>
        <p:spPr>
          <a:xfrm>
            <a:off x="1581912" y="3950208"/>
            <a:ext cx="1188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Google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Gemini AI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935224" y="3877056"/>
            <a:ext cx="1325880" cy="896112"/>
          </a:xfrm>
          <a:prstGeom prst="rect">
            <a:avLst>
              <a:gd name="adj" fmla="val 816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2935224" y="3877056"/>
            <a:ext cx="1325880" cy="45720"/>
          </a:xfrm>
          <a:prstGeom prst="rect">
            <a:avLst/>
          </a:prstGeom>
          <a:solidFill>
            <a:srgbClr val="25D366"/>
          </a:solidFill>
          <a:ln/>
        </p:spPr>
      </p:sp>
      <p:sp>
        <p:nvSpPr>
          <p:cNvPr id="46" name="Text 44"/>
          <p:cNvSpPr/>
          <p:nvPr/>
        </p:nvSpPr>
        <p:spPr>
          <a:xfrm>
            <a:off x="3008376" y="3950208"/>
            <a:ext cx="1188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WhatsApp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Deep Links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361688" y="3877056"/>
            <a:ext cx="1325880" cy="896112"/>
          </a:xfrm>
          <a:prstGeom prst="rect">
            <a:avLst>
              <a:gd name="adj" fmla="val 816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12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361688" y="3877056"/>
            <a:ext cx="1325880" cy="457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49" name="Text 47"/>
          <p:cNvSpPr/>
          <p:nvPr/>
        </p:nvSpPr>
        <p:spPr>
          <a:xfrm>
            <a:off x="4434840" y="3950208"/>
            <a:ext cx="1188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Vercel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Analytics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5788152" y="3877056"/>
            <a:ext cx="1325880" cy="896112"/>
          </a:xfrm>
          <a:prstGeom prst="rect">
            <a:avLst>
              <a:gd name="adj" fmla="val 816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12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5788152" y="3877056"/>
            <a:ext cx="1325880" cy="45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52" name="Text 50"/>
          <p:cNvSpPr/>
          <p:nvPr/>
        </p:nvSpPr>
        <p:spPr>
          <a:xfrm>
            <a:off x="5861304" y="3950208"/>
            <a:ext cx="1188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Google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Maps API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7214616" y="3877056"/>
            <a:ext cx="1325880" cy="896112"/>
          </a:xfrm>
          <a:prstGeom prst="rect">
            <a:avLst>
              <a:gd name="adj" fmla="val 8163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12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7214616" y="3877056"/>
            <a:ext cx="1325880" cy="45720"/>
          </a:xfrm>
          <a:prstGeom prst="rect">
            <a:avLst/>
          </a:prstGeom>
          <a:solidFill>
            <a:srgbClr val="0F1E35"/>
          </a:solidFill>
          <a:ln/>
        </p:spPr>
      </p:sp>
      <p:sp>
        <p:nvSpPr>
          <p:cNvPr id="55" name="Text 53"/>
          <p:cNvSpPr/>
          <p:nvPr/>
        </p:nvSpPr>
        <p:spPr>
          <a:xfrm>
            <a:off x="7287768" y="3950208"/>
            <a:ext cx="1188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Print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PDF Export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1463040" y="2505456"/>
            <a:ext cx="731520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7" name="Shape 55"/>
          <p:cNvSpPr/>
          <p:nvPr/>
        </p:nvSpPr>
        <p:spPr>
          <a:xfrm>
            <a:off x="1463040" y="3730752"/>
            <a:ext cx="731520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58" name="Text 56"/>
          <p:cNvSpPr/>
          <p:nvPr/>
        </p:nvSpPr>
        <p:spPr>
          <a:xfrm>
            <a:off x="457200" y="4846320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</a:rPr>
              <a:t>Deployed on Vercel  •  .env.local for API keys  •  Node.js runtime for AI routes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828800"/>
            <a:ext cx="9144000" cy="9144000"/>
          </a:xfrm>
          <a:prstGeom prst="ellipse">
            <a:avLst/>
          </a:prstGeom>
          <a:solidFill>
            <a:srgbClr val="3B82F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2057400" y="228600"/>
            <a:ext cx="5029200" cy="5029200"/>
          </a:xfrm>
          <a:prstGeom prst="ellipse">
            <a:avLst/>
          </a:prstGeom>
          <a:solidFill>
            <a:srgbClr val="3B82F6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01168"/>
            <a:ext cx="1828800" cy="256032"/>
          </a:xfrm>
          <a:prstGeom prst="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011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BUSINESS IMPACT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5212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Fitness Hub delivers for gym owners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457200" y="1261872"/>
            <a:ext cx="2724912" cy="1993392"/>
          </a:xfrm>
          <a:prstGeom prst="rect">
            <a:avLst>
              <a:gd name="adj" fmla="val 5505"/>
            </a:avLst>
          </a:prstGeom>
          <a:solidFill>
            <a:srgbClr val="152240"/>
          </a:solidFill>
          <a:ln w="635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261872"/>
            <a:ext cx="2724912" cy="54864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44752"/>
            <a:ext cx="475488" cy="47548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34440" y="1389888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24/7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621792" y="204825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Online Visibility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621792" y="2359152"/>
            <a:ext cx="2395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0B0CC"/>
                </a:solidFill>
              </a:rPr>
              <a:t>Prospects can find, explore,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0B0CC"/>
                </a:solidFill>
              </a:rPr>
              <a:t>and act anytime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3364992" y="1261872"/>
            <a:ext cx="2724912" cy="1993392"/>
          </a:xfrm>
          <a:prstGeom prst="rect">
            <a:avLst>
              <a:gd name="adj" fmla="val 5505"/>
            </a:avLst>
          </a:prstGeom>
          <a:solidFill>
            <a:srgbClr val="152240"/>
          </a:solidFill>
          <a:ln w="635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364992" y="1261872"/>
            <a:ext cx="2724912" cy="54864"/>
          </a:xfrm>
          <a:prstGeom prst="rect">
            <a:avLst/>
          </a:prstGeom>
          <a:solidFill>
            <a:srgbClr val="25D366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7872" y="1444752"/>
            <a:ext cx="475488" cy="47548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142232" y="1389888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 2</a:t>
            </a:r>
            <a:endParaRPr lang="en-US" sz="4000" dirty="0"/>
          </a:p>
        </p:txBody>
      </p:sp>
      <p:sp>
        <p:nvSpPr>
          <p:cNvPr id="17" name="Text 13"/>
          <p:cNvSpPr/>
          <p:nvPr/>
        </p:nvSpPr>
        <p:spPr>
          <a:xfrm>
            <a:off x="4142232" y="1993392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5D366"/>
                </a:solidFill>
              </a:rPr>
              <a:t>min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3529584" y="204825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WhatsApp Response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3529584" y="2359152"/>
            <a:ext cx="2395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0B0CC"/>
                </a:solidFill>
              </a:rPr>
              <a:t>Pre-filled messages mean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0B0CC"/>
                </a:solidFill>
              </a:rPr>
              <a:t>zero cold starts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6272784" y="1261872"/>
            <a:ext cx="2724912" cy="1993392"/>
          </a:xfrm>
          <a:prstGeom prst="rect">
            <a:avLst>
              <a:gd name="adj" fmla="val 5505"/>
            </a:avLst>
          </a:prstGeom>
          <a:solidFill>
            <a:srgbClr val="152240"/>
          </a:solidFill>
          <a:ln w="635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272784" y="1261872"/>
            <a:ext cx="2724912" cy="54864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5664" y="1444752"/>
            <a:ext cx="475488" cy="475488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7050024" y="1389888"/>
            <a:ext cx="1828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3×</a:t>
            </a:r>
            <a:endParaRPr lang="en-US" sz="4000" dirty="0"/>
          </a:p>
        </p:txBody>
      </p:sp>
      <p:sp>
        <p:nvSpPr>
          <p:cNvPr id="24" name="Text 19"/>
          <p:cNvSpPr/>
          <p:nvPr/>
        </p:nvSpPr>
        <p:spPr>
          <a:xfrm>
            <a:off x="6437376" y="204825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Lead Capture Points</a:t>
            </a:r>
            <a:endParaRPr lang="en-US" sz="1150" dirty="0"/>
          </a:p>
        </p:txBody>
      </p:sp>
      <p:sp>
        <p:nvSpPr>
          <p:cNvPr id="25" name="Text 20"/>
          <p:cNvSpPr/>
          <p:nvPr/>
        </p:nvSpPr>
        <p:spPr>
          <a:xfrm>
            <a:off x="6437376" y="2359152"/>
            <a:ext cx="2395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0B0CC"/>
                </a:solidFill>
              </a:rPr>
              <a:t>Hero · AI Plan · Location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90B0CC"/>
                </a:solidFill>
              </a:rPr>
              <a:t>CTAs across site</a:t>
            </a:r>
            <a:endParaRPr lang="en-US" sz="900" dirty="0"/>
          </a:p>
        </p:txBody>
      </p:sp>
      <p:sp>
        <p:nvSpPr>
          <p:cNvPr id="26" name="Shape 21"/>
          <p:cNvSpPr/>
          <p:nvPr/>
        </p:nvSpPr>
        <p:spPr>
          <a:xfrm>
            <a:off x="457200" y="3401568"/>
            <a:ext cx="2011680" cy="1389888"/>
          </a:xfrm>
          <a:prstGeom prst="rect">
            <a:avLst>
              <a:gd name="adj" fmla="val 5921"/>
            </a:avLst>
          </a:prstGeom>
          <a:solidFill>
            <a:srgbClr val="152240"/>
          </a:solidFill>
          <a:ln w="635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12000"/>
              </a:srgbClr>
            </a:outerShdw>
          </a:effectLst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3566160"/>
            <a:ext cx="365760" cy="36576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115568" y="352044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Multiple revenue streams</a:t>
            </a:r>
            <a:endParaRPr lang="en-US" sz="950" dirty="0"/>
          </a:p>
        </p:txBody>
      </p:sp>
      <p:sp>
        <p:nvSpPr>
          <p:cNvPr id="29" name="Text 23"/>
          <p:cNvSpPr/>
          <p:nvPr/>
        </p:nvSpPr>
        <p:spPr>
          <a:xfrm>
            <a:off x="621792" y="4005072"/>
            <a:ext cx="175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0A0C0"/>
                </a:solidFill>
              </a:rPr>
              <a:t>Gym · PT · Transformation packages</a:t>
            </a:r>
            <a:endParaRPr lang="en-US" sz="850" dirty="0"/>
          </a:p>
        </p:txBody>
      </p:sp>
      <p:sp>
        <p:nvSpPr>
          <p:cNvPr id="30" name="Shape 24"/>
          <p:cNvSpPr/>
          <p:nvPr/>
        </p:nvSpPr>
        <p:spPr>
          <a:xfrm>
            <a:off x="2633472" y="3401568"/>
            <a:ext cx="2011680" cy="1389888"/>
          </a:xfrm>
          <a:prstGeom prst="rect">
            <a:avLst>
              <a:gd name="adj" fmla="val 5921"/>
            </a:avLst>
          </a:prstGeom>
          <a:solidFill>
            <a:srgbClr val="152240"/>
          </a:solidFill>
          <a:ln w="635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12000"/>
              </a:srgbClr>
            </a:outerShdw>
          </a:effectLst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98064" y="3566160"/>
            <a:ext cx="365760" cy="365760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3291840" y="352044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AI reduces consultation time</a:t>
            </a:r>
            <a:endParaRPr lang="en-US" sz="950" dirty="0"/>
          </a:p>
        </p:txBody>
      </p:sp>
      <p:sp>
        <p:nvSpPr>
          <p:cNvPr id="33" name="Text 26"/>
          <p:cNvSpPr/>
          <p:nvPr/>
        </p:nvSpPr>
        <p:spPr>
          <a:xfrm>
            <a:off x="2798064" y="4005072"/>
            <a:ext cx="175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0A0C0"/>
                </a:solidFill>
              </a:rPr>
              <a:t>Automated plan = less manual work</a:t>
            </a:r>
            <a:endParaRPr lang="en-US" sz="850" dirty="0"/>
          </a:p>
        </p:txBody>
      </p:sp>
      <p:sp>
        <p:nvSpPr>
          <p:cNvPr id="34" name="Shape 27"/>
          <p:cNvSpPr/>
          <p:nvPr/>
        </p:nvSpPr>
        <p:spPr>
          <a:xfrm>
            <a:off x="4809744" y="3401568"/>
            <a:ext cx="2011680" cy="1389888"/>
          </a:xfrm>
          <a:prstGeom prst="rect">
            <a:avLst>
              <a:gd name="adj" fmla="val 5921"/>
            </a:avLst>
          </a:prstGeom>
          <a:solidFill>
            <a:srgbClr val="152240"/>
          </a:solidFill>
          <a:ln w="635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12000"/>
              </a:srgbClr>
            </a:outerShdw>
          </a:effectLst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74336" y="3566160"/>
            <a:ext cx="365760" cy="36576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5468112" y="352044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Fully configurable</a:t>
            </a:r>
            <a:endParaRPr lang="en-US" sz="950" dirty="0"/>
          </a:p>
        </p:txBody>
      </p:sp>
      <p:sp>
        <p:nvSpPr>
          <p:cNvPr id="37" name="Text 29"/>
          <p:cNvSpPr/>
          <p:nvPr/>
        </p:nvSpPr>
        <p:spPr>
          <a:xfrm>
            <a:off x="4974336" y="4005072"/>
            <a:ext cx="175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0A0C0"/>
                </a:solidFill>
              </a:rPr>
              <a:t>Brand, pricing, trainers in constants.ts</a:t>
            </a:r>
            <a:endParaRPr lang="en-US" sz="850" dirty="0"/>
          </a:p>
        </p:txBody>
      </p:sp>
      <p:sp>
        <p:nvSpPr>
          <p:cNvPr id="38" name="Shape 30"/>
          <p:cNvSpPr/>
          <p:nvPr/>
        </p:nvSpPr>
        <p:spPr>
          <a:xfrm>
            <a:off x="6986016" y="3401568"/>
            <a:ext cx="2011680" cy="1389888"/>
          </a:xfrm>
          <a:prstGeom prst="rect">
            <a:avLst>
              <a:gd name="adj" fmla="val 5921"/>
            </a:avLst>
          </a:prstGeom>
          <a:solidFill>
            <a:srgbClr val="152240"/>
          </a:solidFill>
          <a:ln w="635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12000"/>
              </a:srgbClr>
            </a:outerShdw>
          </a:effectLst>
        </p:spPr>
      </p:sp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50608" y="3566160"/>
            <a:ext cx="365760" cy="365760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7644384" y="352044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Vercel-ready deployment</a:t>
            </a:r>
            <a:endParaRPr lang="en-US" sz="950" dirty="0"/>
          </a:p>
        </p:txBody>
      </p:sp>
      <p:sp>
        <p:nvSpPr>
          <p:cNvPr id="41" name="Text 32"/>
          <p:cNvSpPr/>
          <p:nvPr/>
        </p:nvSpPr>
        <p:spPr>
          <a:xfrm>
            <a:off x="7150608" y="4005072"/>
            <a:ext cx="175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0A0C0"/>
                </a:solidFill>
              </a:rPr>
              <a:t>One push to go live globally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828800" cy="256032"/>
          </a:xfrm>
          <a:prstGeom prst="rect">
            <a:avLst>
              <a:gd name="adj" fmla="val 50000"/>
            </a:avLst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PRODUCT ROADMAP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2120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2026 Roadmap — What's next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</a:rPr>
              <a:t>The platform is live. Here's what comes next to drive more conversions and retention.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22960" y="2029968"/>
            <a:ext cx="7498080" cy="4114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7" name="Shape 5"/>
          <p:cNvSpPr/>
          <p:nvPr/>
        </p:nvSpPr>
        <p:spPr>
          <a:xfrm>
            <a:off x="658368" y="1920240"/>
            <a:ext cx="347472" cy="347472"/>
          </a:xfrm>
          <a:prstGeom prst="ellipse">
            <a:avLst/>
          </a:prstGeom>
          <a:solidFill>
            <a:srgbClr val="10B981"/>
          </a:solidFill>
          <a:ln w="25400">
            <a:solidFill>
              <a:srgbClr val="F8FAFC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1956816"/>
            <a:ext cx="274320" cy="2743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-45720" y="2395728"/>
            <a:ext cx="1783080" cy="2487168"/>
          </a:xfrm>
          <a:prstGeom prst="rect">
            <a:avLst>
              <a:gd name="adj" fmla="val 461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-45720" y="2395728"/>
            <a:ext cx="1783080" cy="5029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Shape 8"/>
          <p:cNvSpPr/>
          <p:nvPr/>
        </p:nvSpPr>
        <p:spPr>
          <a:xfrm>
            <a:off x="18288" y="2514600"/>
            <a:ext cx="896112" cy="228600"/>
          </a:xfrm>
          <a:prstGeom prst="rect">
            <a:avLst>
              <a:gd name="adj" fmla="val 48000"/>
            </a:avLst>
          </a:prstGeom>
          <a:solidFill>
            <a:srgbClr val="10B981">
              <a:alpha val="18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18288" y="2514600"/>
            <a:ext cx="896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0B981"/>
                </a:solidFill>
              </a:rPr>
              <a:t>DONE</a:t>
            </a:r>
            <a:endParaRPr lang="en-US" sz="750" dirty="0"/>
          </a:p>
        </p:txBody>
      </p:sp>
      <p:sp>
        <p:nvSpPr>
          <p:cNvPr id="13" name="Text 10"/>
          <p:cNvSpPr/>
          <p:nvPr/>
        </p:nvSpPr>
        <p:spPr>
          <a:xfrm>
            <a:off x="18288" y="279806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Q1 2026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8288" y="309067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</a:rPr>
              <a:t>Launch Ready</a:t>
            </a:r>
            <a:endParaRPr lang="en-US" sz="95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" y="3429000"/>
            <a:ext cx="182880" cy="1828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37744" y="34015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Core platform live</a:t>
            </a:r>
            <a:endParaRPr lang="en-US" sz="85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" y="3758184"/>
            <a:ext cx="182880" cy="1828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37744" y="37307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AI plan builder</a:t>
            </a:r>
            <a:endParaRPr lang="en-US" sz="85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" y="4087368"/>
            <a:ext cx="182880" cy="18288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237744" y="40599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WhatsApp CTAs</a:t>
            </a:r>
            <a:endParaRPr lang="en-US" sz="85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" y="4416552"/>
            <a:ext cx="182880" cy="18288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237744" y="43891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13 sections active</a:t>
            </a:r>
            <a:endParaRPr lang="en-US" sz="850" dirty="0"/>
          </a:p>
        </p:txBody>
      </p:sp>
      <p:sp>
        <p:nvSpPr>
          <p:cNvPr id="23" name="Shape 16"/>
          <p:cNvSpPr/>
          <p:nvPr/>
        </p:nvSpPr>
        <p:spPr>
          <a:xfrm>
            <a:off x="2578608" y="1920240"/>
            <a:ext cx="347472" cy="347472"/>
          </a:xfrm>
          <a:prstGeom prst="ellipse">
            <a:avLst/>
          </a:prstGeom>
          <a:solidFill>
            <a:srgbClr val="3B82F6"/>
          </a:solidFill>
          <a:ln w="25400">
            <a:solidFill>
              <a:srgbClr val="F8FAFC"/>
            </a:solidFill>
            <a:prstDash val="solid"/>
          </a:ln>
        </p:spPr>
      </p:sp>
      <p:sp>
        <p:nvSpPr>
          <p:cNvPr id="24" name="Text 17"/>
          <p:cNvSpPr/>
          <p:nvPr/>
        </p:nvSpPr>
        <p:spPr>
          <a:xfrm>
            <a:off x="2578608" y="19202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25" name="Shape 18"/>
          <p:cNvSpPr/>
          <p:nvPr/>
        </p:nvSpPr>
        <p:spPr>
          <a:xfrm>
            <a:off x="1874520" y="2395728"/>
            <a:ext cx="1783080" cy="2487168"/>
          </a:xfrm>
          <a:prstGeom prst="rect">
            <a:avLst>
              <a:gd name="adj" fmla="val 461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12000"/>
              </a:srgbClr>
            </a:outerShdw>
          </a:effectLst>
        </p:spPr>
      </p:sp>
      <p:sp>
        <p:nvSpPr>
          <p:cNvPr id="26" name="Shape 19"/>
          <p:cNvSpPr/>
          <p:nvPr/>
        </p:nvSpPr>
        <p:spPr>
          <a:xfrm>
            <a:off x="1874520" y="2395728"/>
            <a:ext cx="1783080" cy="5029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7" name="Shape 20"/>
          <p:cNvSpPr/>
          <p:nvPr/>
        </p:nvSpPr>
        <p:spPr>
          <a:xfrm>
            <a:off x="1938528" y="2514600"/>
            <a:ext cx="896112" cy="228600"/>
          </a:xfrm>
          <a:prstGeom prst="rect">
            <a:avLst>
              <a:gd name="adj" fmla="val 48000"/>
            </a:avLst>
          </a:prstGeom>
          <a:solidFill>
            <a:srgbClr val="3B82F6">
              <a:alpha val="18000"/>
            </a:srgbClr>
          </a:solidFill>
          <a:ln/>
        </p:spPr>
      </p:sp>
      <p:sp>
        <p:nvSpPr>
          <p:cNvPr id="28" name="Text 21"/>
          <p:cNvSpPr/>
          <p:nvPr/>
        </p:nvSpPr>
        <p:spPr>
          <a:xfrm>
            <a:off x="1938528" y="2514600"/>
            <a:ext cx="896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B82F6"/>
                </a:solidFill>
              </a:rPr>
              <a:t>NEXT</a:t>
            </a:r>
            <a:endParaRPr lang="en-US" sz="750" dirty="0"/>
          </a:p>
        </p:txBody>
      </p:sp>
      <p:sp>
        <p:nvSpPr>
          <p:cNvPr id="29" name="Text 22"/>
          <p:cNvSpPr/>
          <p:nvPr/>
        </p:nvSpPr>
        <p:spPr>
          <a:xfrm>
            <a:off x="1938528" y="279806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Q2 2026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1938528" y="309067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B82F6"/>
                </a:solidFill>
              </a:rPr>
              <a:t>Analytics + Leads</a:t>
            </a:r>
            <a:endParaRPr lang="en-US" sz="950" dirty="0"/>
          </a:p>
        </p:txBody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38528" y="3429000"/>
            <a:ext cx="182880" cy="18288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2157984" y="34015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CRM dashboard</a:t>
            </a:r>
            <a:endParaRPr lang="en-US" sz="850" dirty="0"/>
          </a:p>
        </p:txBody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38528" y="3758184"/>
            <a:ext cx="182880" cy="182880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2157984" y="37307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Lead tracking</a:t>
            </a:r>
            <a:endParaRPr lang="en-US" sz="850" dirty="0"/>
          </a:p>
        </p:txBody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38528" y="4087368"/>
            <a:ext cx="182880" cy="182880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2157984" y="40599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Vercel analytics</a:t>
            </a:r>
            <a:endParaRPr lang="en-US" sz="850" dirty="0"/>
          </a:p>
        </p:txBody>
      </p:sp>
      <p:pic>
        <p:nvPicPr>
          <p:cNvPr id="3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38528" y="4416552"/>
            <a:ext cx="182880" cy="182880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2157984" y="43891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Google Reviews API</a:t>
            </a:r>
            <a:endParaRPr lang="en-US" sz="850" dirty="0"/>
          </a:p>
        </p:txBody>
      </p:sp>
      <p:sp>
        <p:nvSpPr>
          <p:cNvPr id="39" name="Shape 28"/>
          <p:cNvSpPr/>
          <p:nvPr/>
        </p:nvSpPr>
        <p:spPr>
          <a:xfrm>
            <a:off x="4498848" y="1920240"/>
            <a:ext cx="347472" cy="347472"/>
          </a:xfrm>
          <a:prstGeom prst="ellipse">
            <a:avLst/>
          </a:prstGeom>
          <a:solidFill>
            <a:srgbClr val="F59E0B"/>
          </a:solidFill>
          <a:ln w="25400">
            <a:solidFill>
              <a:srgbClr val="F8FAFC"/>
            </a:solidFill>
            <a:prstDash val="solid"/>
          </a:ln>
        </p:spPr>
      </p:sp>
      <p:sp>
        <p:nvSpPr>
          <p:cNvPr id="40" name="Text 29"/>
          <p:cNvSpPr/>
          <p:nvPr/>
        </p:nvSpPr>
        <p:spPr>
          <a:xfrm>
            <a:off x="4498848" y="19202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41" name="Shape 30"/>
          <p:cNvSpPr/>
          <p:nvPr/>
        </p:nvSpPr>
        <p:spPr>
          <a:xfrm>
            <a:off x="3794760" y="2395728"/>
            <a:ext cx="1783080" cy="2487168"/>
          </a:xfrm>
          <a:prstGeom prst="rect">
            <a:avLst>
              <a:gd name="adj" fmla="val 461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12000"/>
              </a:srgbClr>
            </a:outerShdw>
          </a:effectLst>
        </p:spPr>
      </p:sp>
      <p:sp>
        <p:nvSpPr>
          <p:cNvPr id="42" name="Shape 31"/>
          <p:cNvSpPr/>
          <p:nvPr/>
        </p:nvSpPr>
        <p:spPr>
          <a:xfrm>
            <a:off x="3794760" y="2395728"/>
            <a:ext cx="1783080" cy="5029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3" name="Shape 32"/>
          <p:cNvSpPr/>
          <p:nvPr/>
        </p:nvSpPr>
        <p:spPr>
          <a:xfrm>
            <a:off x="3858768" y="2514600"/>
            <a:ext cx="896112" cy="228600"/>
          </a:xfrm>
          <a:prstGeom prst="rect">
            <a:avLst>
              <a:gd name="adj" fmla="val 48000"/>
            </a:avLst>
          </a:prstGeom>
          <a:solidFill>
            <a:srgbClr val="F59E0B">
              <a:alpha val="18000"/>
            </a:srgbClr>
          </a:solidFill>
          <a:ln/>
        </p:spPr>
      </p:sp>
      <p:sp>
        <p:nvSpPr>
          <p:cNvPr id="44" name="Text 33"/>
          <p:cNvSpPr/>
          <p:nvPr/>
        </p:nvSpPr>
        <p:spPr>
          <a:xfrm>
            <a:off x="3858768" y="2514600"/>
            <a:ext cx="896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59E0B"/>
                </a:solidFill>
              </a:rPr>
              <a:t>PLANNED</a:t>
            </a:r>
            <a:endParaRPr lang="en-US" sz="750" dirty="0"/>
          </a:p>
        </p:txBody>
      </p:sp>
      <p:sp>
        <p:nvSpPr>
          <p:cNvPr id="45" name="Text 34"/>
          <p:cNvSpPr/>
          <p:nvPr/>
        </p:nvSpPr>
        <p:spPr>
          <a:xfrm>
            <a:off x="3858768" y="279806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Q3 2026</a:t>
            </a:r>
            <a:endParaRPr lang="en-US" sz="1200" dirty="0"/>
          </a:p>
        </p:txBody>
      </p:sp>
      <p:sp>
        <p:nvSpPr>
          <p:cNvPr id="46" name="Text 35"/>
          <p:cNvSpPr/>
          <p:nvPr/>
        </p:nvSpPr>
        <p:spPr>
          <a:xfrm>
            <a:off x="3858768" y="309067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</a:rPr>
              <a:t>Mobile App</a:t>
            </a:r>
            <a:endParaRPr lang="en-US" sz="950" dirty="0"/>
          </a:p>
        </p:txBody>
      </p:sp>
      <p:pic>
        <p:nvPicPr>
          <p:cNvPr id="4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58768" y="3429000"/>
            <a:ext cx="182880" cy="182880"/>
          </a:xfrm>
          <a:prstGeom prst="rect">
            <a:avLst/>
          </a:prstGeom>
        </p:spPr>
      </p:pic>
      <p:sp>
        <p:nvSpPr>
          <p:cNvPr id="48" name="Text 36"/>
          <p:cNvSpPr/>
          <p:nvPr/>
        </p:nvSpPr>
        <p:spPr>
          <a:xfrm>
            <a:off x="4078224" y="34015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React Native app</a:t>
            </a:r>
            <a:endParaRPr lang="en-US" sz="850" dirty="0"/>
          </a:p>
        </p:txBody>
      </p:sp>
      <p:pic>
        <p:nvPicPr>
          <p:cNvPr id="49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58768" y="3758184"/>
            <a:ext cx="182880" cy="182880"/>
          </a:xfrm>
          <a:prstGeom prst="rect">
            <a:avLst/>
          </a:prstGeom>
        </p:spPr>
      </p:pic>
      <p:sp>
        <p:nvSpPr>
          <p:cNvPr id="50" name="Text 37"/>
          <p:cNvSpPr/>
          <p:nvPr/>
        </p:nvSpPr>
        <p:spPr>
          <a:xfrm>
            <a:off x="4078224" y="37307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Member check-ins</a:t>
            </a:r>
            <a:endParaRPr lang="en-US" sz="850" dirty="0"/>
          </a:p>
        </p:txBody>
      </p:sp>
      <p:pic>
        <p:nvPicPr>
          <p:cNvPr id="51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58768" y="4087368"/>
            <a:ext cx="182880" cy="182880"/>
          </a:xfrm>
          <a:prstGeom prst="rect">
            <a:avLst/>
          </a:prstGeom>
        </p:spPr>
      </p:pic>
      <p:sp>
        <p:nvSpPr>
          <p:cNvPr id="52" name="Text 38"/>
          <p:cNvSpPr/>
          <p:nvPr/>
        </p:nvSpPr>
        <p:spPr>
          <a:xfrm>
            <a:off x="4078224" y="40599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Push notifications</a:t>
            </a:r>
            <a:endParaRPr lang="en-US" sz="850" dirty="0"/>
          </a:p>
        </p:txBody>
      </p:sp>
      <p:pic>
        <p:nvPicPr>
          <p:cNvPr id="53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58768" y="4416552"/>
            <a:ext cx="182880" cy="182880"/>
          </a:xfrm>
          <a:prstGeom prst="rect">
            <a:avLst/>
          </a:prstGeom>
        </p:spPr>
      </p:pic>
      <p:sp>
        <p:nvSpPr>
          <p:cNvPr id="54" name="Text 39"/>
          <p:cNvSpPr/>
          <p:nvPr/>
        </p:nvSpPr>
        <p:spPr>
          <a:xfrm>
            <a:off x="4078224" y="43891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Progress tracking</a:t>
            </a:r>
            <a:endParaRPr lang="en-US" sz="850" dirty="0"/>
          </a:p>
        </p:txBody>
      </p:sp>
      <p:sp>
        <p:nvSpPr>
          <p:cNvPr id="55" name="Shape 40"/>
          <p:cNvSpPr/>
          <p:nvPr/>
        </p:nvSpPr>
        <p:spPr>
          <a:xfrm>
            <a:off x="6419088" y="1920240"/>
            <a:ext cx="347472" cy="347472"/>
          </a:xfrm>
          <a:prstGeom prst="ellipse">
            <a:avLst/>
          </a:prstGeom>
          <a:solidFill>
            <a:srgbClr val="3B82F6"/>
          </a:solidFill>
          <a:ln w="25400">
            <a:solidFill>
              <a:srgbClr val="F8FAFC"/>
            </a:solidFill>
            <a:prstDash val="solid"/>
          </a:ln>
        </p:spPr>
      </p:sp>
      <p:sp>
        <p:nvSpPr>
          <p:cNvPr id="56" name="Text 41"/>
          <p:cNvSpPr/>
          <p:nvPr/>
        </p:nvSpPr>
        <p:spPr>
          <a:xfrm>
            <a:off x="6419088" y="19202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57" name="Shape 42"/>
          <p:cNvSpPr/>
          <p:nvPr/>
        </p:nvSpPr>
        <p:spPr>
          <a:xfrm>
            <a:off x="5715000" y="2395728"/>
            <a:ext cx="1783080" cy="2487168"/>
          </a:xfrm>
          <a:prstGeom prst="rect">
            <a:avLst>
              <a:gd name="adj" fmla="val 4615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12000"/>
              </a:srgbClr>
            </a:outerShdw>
          </a:effectLst>
        </p:spPr>
      </p:sp>
      <p:sp>
        <p:nvSpPr>
          <p:cNvPr id="58" name="Shape 43"/>
          <p:cNvSpPr/>
          <p:nvPr/>
        </p:nvSpPr>
        <p:spPr>
          <a:xfrm>
            <a:off x="5715000" y="2395728"/>
            <a:ext cx="1783080" cy="5029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9" name="Shape 44"/>
          <p:cNvSpPr/>
          <p:nvPr/>
        </p:nvSpPr>
        <p:spPr>
          <a:xfrm>
            <a:off x="5779008" y="2514600"/>
            <a:ext cx="896112" cy="228600"/>
          </a:xfrm>
          <a:prstGeom prst="rect">
            <a:avLst>
              <a:gd name="adj" fmla="val 48000"/>
            </a:avLst>
          </a:prstGeom>
          <a:solidFill>
            <a:srgbClr val="3B82F6">
              <a:alpha val="18000"/>
            </a:srgbClr>
          </a:solidFill>
          <a:ln/>
        </p:spPr>
      </p:sp>
      <p:sp>
        <p:nvSpPr>
          <p:cNvPr id="60" name="Text 45"/>
          <p:cNvSpPr/>
          <p:nvPr/>
        </p:nvSpPr>
        <p:spPr>
          <a:xfrm>
            <a:off x="5779008" y="2514600"/>
            <a:ext cx="896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B82F6"/>
                </a:solidFill>
              </a:rPr>
              <a:t>VISION</a:t>
            </a:r>
            <a:endParaRPr lang="en-US" sz="750" dirty="0"/>
          </a:p>
        </p:txBody>
      </p:sp>
      <p:sp>
        <p:nvSpPr>
          <p:cNvPr id="61" name="Text 46"/>
          <p:cNvSpPr/>
          <p:nvPr/>
        </p:nvSpPr>
        <p:spPr>
          <a:xfrm>
            <a:off x="5779008" y="2798064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Q4 2026</a:t>
            </a:r>
            <a:endParaRPr lang="en-US" sz="1200" dirty="0"/>
          </a:p>
        </p:txBody>
      </p:sp>
      <p:sp>
        <p:nvSpPr>
          <p:cNvPr id="62" name="Text 47"/>
          <p:cNvSpPr/>
          <p:nvPr/>
        </p:nvSpPr>
        <p:spPr>
          <a:xfrm>
            <a:off x="5779008" y="309067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B82F6"/>
                </a:solidFill>
              </a:rPr>
              <a:t>AI Suite Expansion</a:t>
            </a:r>
            <a:endParaRPr lang="en-US" sz="950" dirty="0"/>
          </a:p>
        </p:txBody>
      </p:sp>
      <p:pic>
        <p:nvPicPr>
          <p:cNvPr id="63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779008" y="3429000"/>
            <a:ext cx="182880" cy="182880"/>
          </a:xfrm>
          <a:prstGeom prst="rect">
            <a:avLst/>
          </a:prstGeom>
        </p:spPr>
      </p:pic>
      <p:sp>
        <p:nvSpPr>
          <p:cNvPr id="64" name="Text 48"/>
          <p:cNvSpPr/>
          <p:nvPr/>
        </p:nvSpPr>
        <p:spPr>
          <a:xfrm>
            <a:off x="5998464" y="340156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AI nutrition planner</a:t>
            </a:r>
            <a:endParaRPr lang="en-US" sz="850" dirty="0"/>
          </a:p>
        </p:txBody>
      </p:sp>
      <p:pic>
        <p:nvPicPr>
          <p:cNvPr id="65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779008" y="3758184"/>
            <a:ext cx="182880" cy="182880"/>
          </a:xfrm>
          <a:prstGeom prst="rect">
            <a:avLst/>
          </a:prstGeom>
        </p:spPr>
      </p:pic>
      <p:sp>
        <p:nvSpPr>
          <p:cNvPr id="66" name="Text 49"/>
          <p:cNvSpPr/>
          <p:nvPr/>
        </p:nvSpPr>
        <p:spPr>
          <a:xfrm>
            <a:off x="5998464" y="37307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Form check AI (vision)</a:t>
            </a:r>
            <a:endParaRPr lang="en-US" sz="850" dirty="0"/>
          </a:p>
        </p:txBody>
      </p:sp>
      <p:pic>
        <p:nvPicPr>
          <p:cNvPr id="67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5779008" y="4087368"/>
            <a:ext cx="182880" cy="182880"/>
          </a:xfrm>
          <a:prstGeom prst="rect">
            <a:avLst/>
          </a:prstGeom>
        </p:spPr>
      </p:pic>
      <p:sp>
        <p:nvSpPr>
          <p:cNvPr id="68" name="Text 50"/>
          <p:cNvSpPr/>
          <p:nvPr/>
        </p:nvSpPr>
        <p:spPr>
          <a:xfrm>
            <a:off x="5998464" y="40599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Smart retention alerts</a:t>
            </a:r>
            <a:endParaRPr lang="en-US" sz="850" dirty="0"/>
          </a:p>
        </p:txBody>
      </p:sp>
      <p:pic>
        <p:nvPicPr>
          <p:cNvPr id="69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779008" y="4416552"/>
            <a:ext cx="182880" cy="182880"/>
          </a:xfrm>
          <a:prstGeom prst="rect">
            <a:avLst/>
          </a:prstGeom>
        </p:spPr>
      </p:pic>
      <p:sp>
        <p:nvSpPr>
          <p:cNvPr id="70" name="Text 51"/>
          <p:cNvSpPr/>
          <p:nvPr/>
        </p:nvSpPr>
        <p:spPr>
          <a:xfrm>
            <a:off x="5998464" y="43891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Auto slot booking</a:t>
            </a:r>
            <a:endParaRPr lang="en-US" sz="850" dirty="0"/>
          </a:p>
        </p:txBody>
      </p:sp>
      <p:sp>
        <p:nvSpPr>
          <p:cNvPr id="71" name="Text 52"/>
          <p:cNvSpPr/>
          <p:nvPr/>
        </p:nvSpPr>
        <p:spPr>
          <a:xfrm>
            <a:off x="457200" y="4828032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94A3B8"/>
                </a:solidFill>
              </a:rPr>
              <a:t>Roadmap is directional and subject to change based on user feedback and business priorities.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6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1371600"/>
            <a:ext cx="7315200" cy="7315200"/>
          </a:xfrm>
          <a:prstGeom prst="ellipse">
            <a:avLst/>
          </a:prstGeom>
          <a:solidFill>
            <a:srgbClr val="3B82F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188720" y="3017520"/>
            <a:ext cx="4023360" cy="4023360"/>
          </a:xfrm>
          <a:prstGeom prst="ellipse">
            <a:avLst/>
          </a:prstGeom>
          <a:solidFill>
            <a:srgbClr val="3B82F6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029200" y="-2286000"/>
            <a:ext cx="5486400" cy="5486400"/>
          </a:xfrm>
          <a:prstGeom prst="ellipse">
            <a:avLst/>
          </a:prstGeom>
          <a:solidFill>
            <a:srgbClr val="F59E0B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263640" y="-1051560"/>
            <a:ext cx="3017520" cy="3017520"/>
          </a:xfrm>
          <a:prstGeom prst="ellipse">
            <a:avLst/>
          </a:prstGeom>
          <a:solidFill>
            <a:srgbClr val="F59E0B">
              <a:alpha val="6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201168"/>
            <a:ext cx="1828800" cy="256032"/>
          </a:xfrm>
          <a:prstGeom prst="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011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FUTURE VISION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457200" y="521208"/>
            <a:ext cx="6400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Mobile App — Q3 2026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731520" y="1371600"/>
            <a:ext cx="2194560" cy="3657600"/>
          </a:xfrm>
          <a:prstGeom prst="rect">
            <a:avLst>
              <a:gd name="adj" fmla="val 9167"/>
            </a:avLst>
          </a:prstGeom>
          <a:solidFill>
            <a:srgbClr val="152240"/>
          </a:solidFill>
          <a:ln w="19050">
            <a:solidFill>
              <a:srgbClr val="3B82F6">
                <a:alpha val="5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1536192"/>
            <a:ext cx="2011680" cy="3310128"/>
          </a:xfrm>
          <a:prstGeom prst="rect">
            <a:avLst>
              <a:gd name="adj" fmla="val 8182"/>
            </a:avLst>
          </a:prstGeom>
          <a:solidFill>
            <a:srgbClr val="060D1A"/>
          </a:solidFill>
          <a:ln/>
        </p:spPr>
      </p:sp>
      <p:sp>
        <p:nvSpPr>
          <p:cNvPr id="11" name="Shape 9"/>
          <p:cNvSpPr/>
          <p:nvPr/>
        </p:nvSpPr>
        <p:spPr>
          <a:xfrm>
            <a:off x="1508760" y="1463040"/>
            <a:ext cx="640080" cy="146304"/>
          </a:xfrm>
          <a:prstGeom prst="ellipse">
            <a:avLst/>
          </a:prstGeom>
          <a:solidFill>
            <a:srgbClr val="152240"/>
          </a:solidFill>
          <a:ln/>
        </p:spPr>
      </p:sp>
      <p:sp>
        <p:nvSpPr>
          <p:cNvPr id="12" name="Shape 10"/>
          <p:cNvSpPr/>
          <p:nvPr/>
        </p:nvSpPr>
        <p:spPr>
          <a:xfrm>
            <a:off x="868680" y="1755648"/>
            <a:ext cx="1920240" cy="310896"/>
          </a:xfrm>
          <a:prstGeom prst="rect">
            <a:avLst/>
          </a:prstGeom>
          <a:solidFill>
            <a:srgbClr val="3B82F6">
              <a:alpha val="2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1755648"/>
            <a:ext cx="1920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Fitness Hub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896112" y="2194560"/>
            <a:ext cx="868680" cy="658368"/>
          </a:xfrm>
          <a:prstGeom prst="rect">
            <a:avLst>
              <a:gd name="adj" fmla="val 9722"/>
            </a:avLst>
          </a:prstGeom>
          <a:solidFill>
            <a:srgbClr val="0F1E35"/>
          </a:solidFill>
          <a:ln/>
        </p:spPr>
      </p:sp>
      <p:sp>
        <p:nvSpPr>
          <p:cNvPr id="15" name="Text 13"/>
          <p:cNvSpPr/>
          <p:nvPr/>
        </p:nvSpPr>
        <p:spPr>
          <a:xfrm>
            <a:off x="896112" y="2231136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9E0B"/>
                </a:solidFill>
              </a:rPr>
              <a:t>Streak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59E0B"/>
                </a:solidFill>
              </a:rPr>
              <a:t>🔥 12 days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847088" y="2194560"/>
            <a:ext cx="868680" cy="658368"/>
          </a:xfrm>
          <a:prstGeom prst="rect">
            <a:avLst>
              <a:gd name="adj" fmla="val 9722"/>
            </a:avLst>
          </a:prstGeom>
          <a:solidFill>
            <a:srgbClr val="0F1E35"/>
          </a:solidFill>
          <a:ln/>
        </p:spPr>
      </p:sp>
      <p:sp>
        <p:nvSpPr>
          <p:cNvPr id="17" name="Text 15"/>
          <p:cNvSpPr/>
          <p:nvPr/>
        </p:nvSpPr>
        <p:spPr>
          <a:xfrm>
            <a:off x="1847088" y="2231136"/>
            <a:ext cx="868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B82F6"/>
                </a:solidFill>
              </a:rPr>
              <a:t>Next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3B82F6"/>
                </a:solidFill>
              </a:rPr>
              <a:t>7:30 AM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896112" y="2999232"/>
            <a:ext cx="1865376" cy="347472"/>
          </a:xfrm>
          <a:prstGeom prst="rect">
            <a:avLst>
              <a:gd name="adj" fmla="val 15789"/>
            </a:avLst>
          </a:prstGeom>
          <a:solidFill>
            <a:srgbClr val="0F1E35"/>
          </a:solidFill>
          <a:ln/>
        </p:spPr>
      </p:sp>
      <p:sp>
        <p:nvSpPr>
          <p:cNvPr id="19" name="Text 17"/>
          <p:cNvSpPr/>
          <p:nvPr/>
        </p:nvSpPr>
        <p:spPr>
          <a:xfrm>
            <a:off x="1024128" y="3035808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Today's Plan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896112" y="3419856"/>
            <a:ext cx="1865376" cy="347472"/>
          </a:xfrm>
          <a:prstGeom prst="rect">
            <a:avLst>
              <a:gd name="adj" fmla="val 15789"/>
            </a:avLst>
          </a:prstGeom>
          <a:solidFill>
            <a:srgbClr val="0F1E35"/>
          </a:solidFill>
          <a:ln/>
        </p:spPr>
      </p:sp>
      <p:sp>
        <p:nvSpPr>
          <p:cNvPr id="21" name="Text 19"/>
          <p:cNvSpPr/>
          <p:nvPr/>
        </p:nvSpPr>
        <p:spPr>
          <a:xfrm>
            <a:off x="1024128" y="34564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Progress Tracker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896112" y="3840480"/>
            <a:ext cx="1865376" cy="347472"/>
          </a:xfrm>
          <a:prstGeom prst="rect">
            <a:avLst>
              <a:gd name="adj" fmla="val 15789"/>
            </a:avLst>
          </a:prstGeom>
          <a:solidFill>
            <a:srgbClr val="0F1E35"/>
          </a:solidFill>
          <a:ln/>
        </p:spPr>
      </p:sp>
      <p:sp>
        <p:nvSpPr>
          <p:cNvPr id="23" name="Text 21"/>
          <p:cNvSpPr/>
          <p:nvPr/>
        </p:nvSpPr>
        <p:spPr>
          <a:xfrm>
            <a:off x="1024128" y="387705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Book Trainer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896112" y="4261104"/>
            <a:ext cx="1865376" cy="347472"/>
          </a:xfrm>
          <a:prstGeom prst="rect">
            <a:avLst>
              <a:gd name="adj" fmla="val 15789"/>
            </a:avLst>
          </a:prstGeom>
          <a:solidFill>
            <a:srgbClr val="0F1E35"/>
          </a:solidFill>
          <a:ln/>
        </p:spPr>
      </p:sp>
      <p:sp>
        <p:nvSpPr>
          <p:cNvPr id="25" name="Text 23"/>
          <p:cNvSpPr/>
          <p:nvPr/>
        </p:nvSpPr>
        <p:spPr>
          <a:xfrm>
            <a:off x="1024128" y="42976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Nutrition Log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822960" y="4462272"/>
            <a:ext cx="2011680" cy="329184"/>
          </a:xfrm>
          <a:prstGeom prst="rect">
            <a:avLst/>
          </a:prstGeom>
          <a:solidFill>
            <a:srgbClr val="0F1E35"/>
          </a:solidFill>
          <a:ln/>
        </p:spPr>
      </p:sp>
      <p:sp>
        <p:nvSpPr>
          <p:cNvPr id="27" name="Text 25"/>
          <p:cNvSpPr/>
          <p:nvPr/>
        </p:nvSpPr>
        <p:spPr>
          <a:xfrm>
            <a:off x="960120" y="44805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🏠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435608" y="44805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📊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911096" y="44805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🤖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386584" y="44805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👤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337560" y="1371600"/>
            <a:ext cx="5486400" cy="566928"/>
          </a:xfrm>
          <a:prstGeom prst="rect">
            <a:avLst>
              <a:gd name="adj" fmla="val 11290"/>
            </a:avLst>
          </a:prstGeom>
          <a:solidFill>
            <a:srgbClr val="152240"/>
          </a:solidFill>
          <a:ln w="635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12000"/>
              </a:srgbClr>
            </a:outerShdw>
          </a:effectLst>
        </p:spPr>
      </p:sp>
      <p:pic>
        <p:nvPicPr>
          <p:cNvPr id="3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0" y="1490472"/>
            <a:ext cx="219456" cy="219456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3767328" y="142646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Member check-in QR scanner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3767328" y="1719072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0A0C0"/>
                </a:solidFill>
              </a:rPr>
              <a:t>Scan at gym entrance. Automatic attendance log.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3337560" y="2011680"/>
            <a:ext cx="5486400" cy="566928"/>
          </a:xfrm>
          <a:prstGeom prst="rect">
            <a:avLst>
              <a:gd name="adj" fmla="val 11290"/>
            </a:avLst>
          </a:prstGeom>
          <a:solidFill>
            <a:srgbClr val="152240"/>
          </a:solidFill>
          <a:ln w="635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12000"/>
              </a:srgbClr>
            </a:outerShdw>
          </a:effectLst>
        </p:spPr>
      </p:sp>
      <p:pic>
        <p:nvPicPr>
          <p:cNvPr id="3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2130552"/>
            <a:ext cx="219456" cy="219456"/>
          </a:xfrm>
          <a:prstGeom prst="rect">
            <a:avLst/>
          </a:prstGeom>
        </p:spPr>
      </p:pic>
      <p:sp>
        <p:nvSpPr>
          <p:cNvPr id="37" name="Text 33"/>
          <p:cNvSpPr/>
          <p:nvPr/>
        </p:nvSpPr>
        <p:spPr>
          <a:xfrm>
            <a:off x="3767328" y="206654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Daily plan reminders</a:t>
            </a:r>
            <a:endParaRPr lang="en-US" sz="1100" dirty="0"/>
          </a:p>
        </p:txBody>
      </p:sp>
      <p:sp>
        <p:nvSpPr>
          <p:cNvPr id="38" name="Text 34"/>
          <p:cNvSpPr/>
          <p:nvPr/>
        </p:nvSpPr>
        <p:spPr>
          <a:xfrm>
            <a:off x="3767328" y="2359152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0A0C0"/>
                </a:solidFill>
              </a:rPr>
              <a:t>Push notifications: workout of the day at chosen time.</a:t>
            </a:r>
            <a:endParaRPr lang="en-US" sz="850" dirty="0"/>
          </a:p>
        </p:txBody>
      </p:sp>
      <p:sp>
        <p:nvSpPr>
          <p:cNvPr id="39" name="Shape 35"/>
          <p:cNvSpPr/>
          <p:nvPr/>
        </p:nvSpPr>
        <p:spPr>
          <a:xfrm>
            <a:off x="3337560" y="2651760"/>
            <a:ext cx="5486400" cy="566928"/>
          </a:xfrm>
          <a:prstGeom prst="rect">
            <a:avLst>
              <a:gd name="adj" fmla="val 11290"/>
            </a:avLst>
          </a:prstGeom>
          <a:solidFill>
            <a:srgbClr val="152240"/>
          </a:solidFill>
          <a:ln w="635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12000"/>
              </a:srgbClr>
            </a:outerShdw>
          </a:effectLst>
        </p:spPr>
      </p:sp>
      <p:pic>
        <p:nvPicPr>
          <p:cNvPr id="4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0" y="2770632"/>
            <a:ext cx="219456" cy="219456"/>
          </a:xfrm>
          <a:prstGeom prst="rect">
            <a:avLst/>
          </a:prstGeom>
        </p:spPr>
      </p:pic>
      <p:sp>
        <p:nvSpPr>
          <p:cNvPr id="41" name="Text 36"/>
          <p:cNvSpPr/>
          <p:nvPr/>
        </p:nvSpPr>
        <p:spPr>
          <a:xfrm>
            <a:off x="3767328" y="270662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Progress photo tracker</a:t>
            </a:r>
            <a:endParaRPr lang="en-US" sz="1100" dirty="0"/>
          </a:p>
        </p:txBody>
      </p:sp>
      <p:sp>
        <p:nvSpPr>
          <p:cNvPr id="42" name="Text 37"/>
          <p:cNvSpPr/>
          <p:nvPr/>
        </p:nvSpPr>
        <p:spPr>
          <a:xfrm>
            <a:off x="3767328" y="2999232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0A0C0"/>
                </a:solidFill>
              </a:rPr>
              <a:t>Weekly comparison, stored securely on device.</a:t>
            </a:r>
            <a:endParaRPr lang="en-US" sz="850" dirty="0"/>
          </a:p>
        </p:txBody>
      </p:sp>
      <p:sp>
        <p:nvSpPr>
          <p:cNvPr id="43" name="Shape 38"/>
          <p:cNvSpPr/>
          <p:nvPr/>
        </p:nvSpPr>
        <p:spPr>
          <a:xfrm>
            <a:off x="3337560" y="3291840"/>
            <a:ext cx="5486400" cy="566928"/>
          </a:xfrm>
          <a:prstGeom prst="rect">
            <a:avLst>
              <a:gd name="adj" fmla="val 11290"/>
            </a:avLst>
          </a:prstGeom>
          <a:solidFill>
            <a:srgbClr val="152240"/>
          </a:solidFill>
          <a:ln w="635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12000"/>
              </a:srgbClr>
            </a:outerShdw>
          </a:effectLst>
        </p:spPr>
      </p:sp>
      <p:pic>
        <p:nvPicPr>
          <p:cNvPr id="4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0" y="3410712"/>
            <a:ext cx="219456" cy="219456"/>
          </a:xfrm>
          <a:prstGeom prst="rect">
            <a:avLst/>
          </a:prstGeom>
        </p:spPr>
      </p:pic>
      <p:sp>
        <p:nvSpPr>
          <p:cNvPr id="45" name="Text 39"/>
          <p:cNvSpPr/>
          <p:nvPr/>
        </p:nvSpPr>
        <p:spPr>
          <a:xfrm>
            <a:off x="3767328" y="334670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Trainer chat (WhatsApp bridge)</a:t>
            </a:r>
            <a:endParaRPr lang="en-US" sz="1100" dirty="0"/>
          </a:p>
        </p:txBody>
      </p:sp>
      <p:sp>
        <p:nvSpPr>
          <p:cNvPr id="46" name="Text 40"/>
          <p:cNvSpPr/>
          <p:nvPr/>
        </p:nvSpPr>
        <p:spPr>
          <a:xfrm>
            <a:off x="3767328" y="3639312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0A0C0"/>
                </a:solidFill>
              </a:rPr>
              <a:t>In-app quick message, routes to WhatsApp thread.</a:t>
            </a:r>
            <a:endParaRPr lang="en-US" sz="850" dirty="0"/>
          </a:p>
        </p:txBody>
      </p:sp>
      <p:sp>
        <p:nvSpPr>
          <p:cNvPr id="47" name="Shape 41"/>
          <p:cNvSpPr/>
          <p:nvPr/>
        </p:nvSpPr>
        <p:spPr>
          <a:xfrm>
            <a:off x="3337560" y="3931920"/>
            <a:ext cx="5486400" cy="566928"/>
          </a:xfrm>
          <a:prstGeom prst="rect">
            <a:avLst>
              <a:gd name="adj" fmla="val 11290"/>
            </a:avLst>
          </a:prstGeom>
          <a:solidFill>
            <a:srgbClr val="152240"/>
          </a:solidFill>
          <a:ln w="635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12000"/>
              </a:srgbClr>
            </a:outerShdw>
          </a:effectLst>
        </p:spPr>
      </p:sp>
      <p:pic>
        <p:nvPicPr>
          <p:cNvPr id="4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4720" y="4050792"/>
            <a:ext cx="219456" cy="219456"/>
          </a:xfrm>
          <a:prstGeom prst="rect">
            <a:avLst/>
          </a:prstGeom>
        </p:spPr>
      </p:pic>
      <p:sp>
        <p:nvSpPr>
          <p:cNvPr id="49" name="Text 42"/>
          <p:cNvSpPr/>
          <p:nvPr/>
        </p:nvSpPr>
        <p:spPr>
          <a:xfrm>
            <a:off x="3767328" y="398678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Nutrition log + macros</a:t>
            </a:r>
            <a:endParaRPr lang="en-US" sz="1100" dirty="0"/>
          </a:p>
        </p:txBody>
      </p:sp>
      <p:sp>
        <p:nvSpPr>
          <p:cNvPr id="50" name="Text 43"/>
          <p:cNvSpPr/>
          <p:nvPr/>
        </p:nvSpPr>
        <p:spPr>
          <a:xfrm>
            <a:off x="3767328" y="4279392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0A0C0"/>
                </a:solidFill>
              </a:rPr>
              <a:t>Simple Indian food database with portion logging.</a:t>
            </a:r>
            <a:endParaRPr lang="en-US" sz="850" dirty="0"/>
          </a:p>
        </p:txBody>
      </p:sp>
      <p:sp>
        <p:nvSpPr>
          <p:cNvPr id="51" name="Shape 44"/>
          <p:cNvSpPr/>
          <p:nvPr/>
        </p:nvSpPr>
        <p:spPr>
          <a:xfrm>
            <a:off x="3337560" y="4572000"/>
            <a:ext cx="5486400" cy="566928"/>
          </a:xfrm>
          <a:prstGeom prst="rect">
            <a:avLst>
              <a:gd name="adj" fmla="val 11290"/>
            </a:avLst>
          </a:prstGeom>
          <a:solidFill>
            <a:srgbClr val="152240"/>
          </a:solidFill>
          <a:ln w="6350">
            <a:solidFill>
              <a:srgbClr val="FFFFFF">
                <a:alpha val="10000"/>
              </a:srgbClr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12000"/>
              </a:srgbClr>
            </a:outerShdw>
          </a:effectLst>
        </p:spPr>
      </p:sp>
      <p:pic>
        <p:nvPicPr>
          <p:cNvPr id="5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74720" y="4690872"/>
            <a:ext cx="219456" cy="219456"/>
          </a:xfrm>
          <a:prstGeom prst="rect">
            <a:avLst/>
          </a:prstGeom>
        </p:spPr>
      </p:pic>
      <p:sp>
        <p:nvSpPr>
          <p:cNvPr id="53" name="Text 45"/>
          <p:cNvSpPr/>
          <p:nvPr/>
        </p:nvSpPr>
        <p:spPr>
          <a:xfrm>
            <a:off x="3767328" y="462686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Streak &amp; milestone badges</a:t>
            </a:r>
            <a:endParaRPr lang="en-US" sz="1100" dirty="0"/>
          </a:p>
        </p:txBody>
      </p:sp>
      <p:sp>
        <p:nvSpPr>
          <p:cNvPr id="54" name="Text 46"/>
          <p:cNvSpPr/>
          <p:nvPr/>
        </p:nvSpPr>
        <p:spPr>
          <a:xfrm>
            <a:off x="3767328" y="4919472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0A0C0"/>
                </a:solidFill>
              </a:rPr>
              <a:t>Gamification to drive consistency and retention.</a:t>
            </a:r>
            <a:endParaRPr lang="en-US" sz="850" dirty="0"/>
          </a:p>
        </p:txBody>
      </p:sp>
      <p:sp>
        <p:nvSpPr>
          <p:cNvPr id="55" name="Shape 47"/>
          <p:cNvSpPr/>
          <p:nvPr/>
        </p:nvSpPr>
        <p:spPr>
          <a:xfrm>
            <a:off x="3337560" y="4828032"/>
            <a:ext cx="1463040" cy="256032"/>
          </a:xfrm>
          <a:prstGeom prst="rect">
            <a:avLst>
              <a:gd name="adj" fmla="val 50000"/>
            </a:avLst>
          </a:prstGeom>
          <a:solidFill>
            <a:srgbClr val="3B82F6"/>
          </a:solidFill>
          <a:ln/>
        </p:spPr>
      </p:sp>
      <p:sp>
        <p:nvSpPr>
          <p:cNvPr id="56" name="Text 48"/>
          <p:cNvSpPr/>
          <p:nvPr/>
        </p:nvSpPr>
        <p:spPr>
          <a:xfrm>
            <a:off x="3337560" y="4828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React Native</a:t>
            </a:r>
            <a:endParaRPr lang="en-US" sz="800" dirty="0"/>
          </a:p>
        </p:txBody>
      </p:sp>
      <p:sp>
        <p:nvSpPr>
          <p:cNvPr id="57" name="Shape 49"/>
          <p:cNvSpPr/>
          <p:nvPr/>
        </p:nvSpPr>
        <p:spPr>
          <a:xfrm>
            <a:off x="4919472" y="4828032"/>
            <a:ext cx="1463040" cy="256032"/>
          </a:xfrm>
          <a:prstGeom prst="rect">
            <a:avLst>
              <a:gd name="adj" fmla="val 50000"/>
            </a:avLst>
          </a:prstGeom>
          <a:solidFill>
            <a:srgbClr val="0F1E35"/>
          </a:solidFill>
          <a:ln/>
        </p:spPr>
      </p:sp>
      <p:sp>
        <p:nvSpPr>
          <p:cNvPr id="58" name="Text 50"/>
          <p:cNvSpPr/>
          <p:nvPr/>
        </p:nvSpPr>
        <p:spPr>
          <a:xfrm>
            <a:off x="4919472" y="482803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iOS + Android</a:t>
            </a:r>
            <a:endParaRPr lang="en-US" sz="800" dirty="0"/>
          </a:p>
        </p:txBody>
      </p:sp>
      <p:sp>
        <p:nvSpPr>
          <p:cNvPr id="59" name="Shape 51"/>
          <p:cNvSpPr/>
          <p:nvPr/>
        </p:nvSpPr>
        <p:spPr>
          <a:xfrm>
            <a:off x="6492240" y="4828032"/>
            <a:ext cx="1371600" cy="256032"/>
          </a:xfrm>
          <a:prstGeom prst="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60" name="Text 52"/>
          <p:cNvSpPr/>
          <p:nvPr/>
        </p:nvSpPr>
        <p:spPr>
          <a:xfrm>
            <a:off x="6492240" y="48280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0D1A"/>
                </a:solidFill>
              </a:rPr>
              <a:t>Shared API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828800" cy="256032"/>
          </a:xfrm>
          <a:prstGeom prst="rect">
            <a:avLst>
              <a:gd name="adj" fmla="val 50000"/>
            </a:avLst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AI VISION — Q4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28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Expanding the AI suite</a:t>
            </a:r>
            <a:endParaRPr lang="en-US" sz="28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2800" b="1" dirty="0">
                <a:solidFill>
                  <a:srgbClr val="0F17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beyond plan generation.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27632"/>
            <a:ext cx="4041648" cy="1627632"/>
          </a:xfrm>
          <a:prstGeom prst="rect">
            <a:avLst>
              <a:gd name="adj" fmla="val 674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627632"/>
            <a:ext cx="4041648" cy="54864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56232"/>
            <a:ext cx="502920" cy="50292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154680" y="1792224"/>
            <a:ext cx="1188720" cy="256032"/>
          </a:xfrm>
          <a:prstGeom prst="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9" name="Text 6"/>
          <p:cNvSpPr/>
          <p:nvPr/>
        </p:nvSpPr>
        <p:spPr>
          <a:xfrm>
            <a:off x="3154680" y="179222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Gemini AI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280160" y="1810512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AI Nutrition Planner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640080" y="2450592"/>
            <a:ext cx="36941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Gemini-powered Indian food database integration. Users input meals, AI tracks macros, suggests protein sources, and flags deficits.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736592" y="1627632"/>
            <a:ext cx="4041648" cy="1627632"/>
          </a:xfrm>
          <a:prstGeom prst="rect">
            <a:avLst>
              <a:gd name="adj" fmla="val 674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736592" y="1627632"/>
            <a:ext cx="4041648" cy="54864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9472" y="1856232"/>
            <a:ext cx="502920" cy="50292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7434072" y="1792224"/>
            <a:ext cx="1188720" cy="256032"/>
          </a:xfrm>
          <a:prstGeom prst="rect">
            <a:avLst>
              <a:gd name="adj" fmla="val 50000"/>
            </a:avLst>
          </a:prstGeom>
          <a:solidFill>
            <a:srgbClr val="3B82F6"/>
          </a:solidFill>
          <a:ln/>
        </p:spPr>
      </p:sp>
      <p:sp>
        <p:nvSpPr>
          <p:cNvPr id="16" name="Text 12"/>
          <p:cNvSpPr/>
          <p:nvPr/>
        </p:nvSpPr>
        <p:spPr>
          <a:xfrm>
            <a:off x="7434072" y="1792224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Gemini Vision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5559552" y="1810512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Form Check via Vision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4919472" y="2450592"/>
            <a:ext cx="36941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Upload a workout video. AI analyses posture using MediaPipe + Gemini Vision. Flags risks and suggests correction cues.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457200" y="3419856"/>
            <a:ext cx="4041648" cy="1627632"/>
          </a:xfrm>
          <a:prstGeom prst="rect">
            <a:avLst>
              <a:gd name="adj" fmla="val 674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457200" y="3419856"/>
            <a:ext cx="4041648" cy="54864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648456"/>
            <a:ext cx="502920" cy="502920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3154680" y="3584448"/>
            <a:ext cx="1188720" cy="256032"/>
          </a:xfrm>
          <a:prstGeom prst="rect">
            <a:avLst>
              <a:gd name="adj" fmla="val 50000"/>
            </a:avLst>
          </a:prstGeom>
          <a:solidFill>
            <a:srgbClr val="EF4444"/>
          </a:solidFill>
          <a:ln/>
        </p:spPr>
      </p:sp>
      <p:sp>
        <p:nvSpPr>
          <p:cNvPr id="23" name="Text 18"/>
          <p:cNvSpPr/>
          <p:nvPr/>
        </p:nvSpPr>
        <p:spPr>
          <a:xfrm>
            <a:off x="3154680" y="358444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Automation</a:t>
            </a:r>
            <a:endParaRPr lang="en-US" sz="800" dirty="0"/>
          </a:p>
        </p:txBody>
      </p:sp>
      <p:sp>
        <p:nvSpPr>
          <p:cNvPr id="24" name="Text 19"/>
          <p:cNvSpPr/>
          <p:nvPr/>
        </p:nvSpPr>
        <p:spPr>
          <a:xfrm>
            <a:off x="1280160" y="3602736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Smart Retention Alerts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640080" y="4242816"/>
            <a:ext cx="36941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If a member hasn't checked in for 5+ days, AI triggers a personalised WhatsApp re-engagement message automatically.</a:t>
            </a:r>
            <a:endParaRPr lang="en-US" sz="950" dirty="0"/>
          </a:p>
        </p:txBody>
      </p:sp>
      <p:sp>
        <p:nvSpPr>
          <p:cNvPr id="26" name="Shape 21"/>
          <p:cNvSpPr/>
          <p:nvPr/>
        </p:nvSpPr>
        <p:spPr>
          <a:xfrm>
            <a:off x="4736592" y="3419856"/>
            <a:ext cx="4041648" cy="1627632"/>
          </a:xfrm>
          <a:prstGeom prst="rect">
            <a:avLst>
              <a:gd name="adj" fmla="val 6742"/>
            </a:avLst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77800" dist="508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4736592" y="3419856"/>
            <a:ext cx="4041648" cy="54864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9472" y="3648456"/>
            <a:ext cx="502920" cy="502920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7434072" y="3584448"/>
            <a:ext cx="1188720" cy="256032"/>
          </a:xfrm>
          <a:prstGeom prst="rect">
            <a:avLst>
              <a:gd name="adj" fmla="val 50000"/>
            </a:avLst>
          </a:prstGeom>
          <a:solidFill>
            <a:srgbClr val="10B981"/>
          </a:solidFill>
          <a:ln/>
        </p:spPr>
      </p:sp>
      <p:sp>
        <p:nvSpPr>
          <p:cNvPr id="30" name="Text 24"/>
          <p:cNvSpPr/>
          <p:nvPr/>
        </p:nvSpPr>
        <p:spPr>
          <a:xfrm>
            <a:off x="7434072" y="3584448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AI Scheduling</a:t>
            </a:r>
            <a:endParaRPr lang="en-US" sz="800" dirty="0"/>
          </a:p>
        </p:txBody>
      </p:sp>
      <p:sp>
        <p:nvSpPr>
          <p:cNvPr id="31" name="Text 25"/>
          <p:cNvSpPr/>
          <p:nvPr/>
        </p:nvSpPr>
        <p:spPr>
          <a:xfrm>
            <a:off x="5559552" y="3602736"/>
            <a:ext cx="2697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Auto Slot Booking</a:t>
            </a:r>
            <a:endParaRPr lang="en-US" sz="1250" dirty="0"/>
          </a:p>
        </p:txBody>
      </p:sp>
      <p:sp>
        <p:nvSpPr>
          <p:cNvPr id="32" name="Text 26"/>
          <p:cNvSpPr/>
          <p:nvPr/>
        </p:nvSpPr>
        <p:spPr>
          <a:xfrm>
            <a:off x="4919472" y="4242816"/>
            <a:ext cx="369417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Members pick goal + availability. AI assigns the ideal time slot and notifies via WhatsApp — zero back-and-forth.</a:t>
            </a:r>
            <a:endParaRPr lang="en-US" sz="950" dirty="0"/>
          </a:p>
        </p:txBody>
      </p:sp>
      <p:sp>
        <p:nvSpPr>
          <p:cNvPr id="33" name="Shape 27"/>
          <p:cNvSpPr/>
          <p:nvPr/>
        </p:nvSpPr>
        <p:spPr>
          <a:xfrm>
            <a:off x="457200" y="4736592"/>
            <a:ext cx="8229600" cy="256032"/>
          </a:xfrm>
          <a:prstGeom prst="rect">
            <a:avLst>
              <a:gd name="adj" fmla="val 25000"/>
            </a:avLst>
          </a:prstGeom>
          <a:solidFill>
            <a:srgbClr val="060D1A"/>
          </a:solidFill>
          <a:ln/>
        </p:spPr>
      </p:sp>
      <p:sp>
        <p:nvSpPr>
          <p:cNvPr id="34" name="Text 28"/>
          <p:cNvSpPr/>
          <p:nvPr/>
        </p:nvSpPr>
        <p:spPr>
          <a:xfrm>
            <a:off x="640080" y="4736592"/>
            <a:ext cx="7863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0A5FA"/>
                </a:solidFill>
              </a:rPr>
              <a:t>All AI features use existing Gemini API integration — minimal incremental cost, maximum member value.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6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-914400"/>
            <a:ext cx="7315200" cy="7315200"/>
          </a:xfrm>
          <a:prstGeom prst="ellipse">
            <a:avLst/>
          </a:prstGeom>
          <a:solidFill>
            <a:srgbClr val="3B82F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2560320" y="731520"/>
            <a:ext cx="4023360" cy="4023360"/>
          </a:xfrm>
          <a:prstGeom prst="ellipse">
            <a:avLst/>
          </a:prstGeom>
          <a:solidFill>
            <a:srgbClr val="3B82F6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201168"/>
            <a:ext cx="1828800" cy="256032"/>
          </a:xfrm>
          <a:prstGeom prst="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011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COMPETITIVE EDGE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52120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gyms choose Fitness Hub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457200" y="1261872"/>
            <a:ext cx="3200400" cy="438912"/>
          </a:xfrm>
          <a:prstGeom prst="rect">
            <a:avLst/>
          </a:prstGeom>
          <a:solidFill>
            <a:srgbClr val="152240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261872"/>
            <a:ext cx="3063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Feature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730752" y="1261872"/>
            <a:ext cx="2395728" cy="438912"/>
          </a:xfrm>
          <a:prstGeom prst="rect">
            <a:avLst/>
          </a:prstGeom>
          <a:solidFill>
            <a:srgbClr val="152240"/>
          </a:solidFill>
          <a:ln/>
        </p:spPr>
      </p:sp>
      <p:sp>
        <p:nvSpPr>
          <p:cNvPr id="10" name="Text 8"/>
          <p:cNvSpPr/>
          <p:nvPr/>
        </p:nvSpPr>
        <p:spPr>
          <a:xfrm>
            <a:off x="3840480" y="1261872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4A3B8"/>
                </a:solidFill>
              </a:rPr>
              <a:t>Typical Gym Site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99632" y="1261872"/>
            <a:ext cx="2578608" cy="438912"/>
          </a:xfrm>
          <a:prstGeom prst="rect">
            <a:avLst/>
          </a:prstGeom>
          <a:solidFill>
            <a:srgbClr val="152240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1261872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0A5FA"/>
                </a:solidFill>
              </a:rPr>
              <a:t>Fitness Hub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1700784"/>
            <a:ext cx="3200400" cy="438912"/>
          </a:xfrm>
          <a:prstGeom prst="rect">
            <a:avLst/>
          </a:prstGeom>
          <a:solidFill>
            <a:srgbClr val="0F1E35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1700784"/>
            <a:ext cx="3063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AI Plan Generator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730752" y="1700784"/>
            <a:ext cx="2395728" cy="438912"/>
          </a:xfrm>
          <a:prstGeom prst="rect">
            <a:avLst/>
          </a:prstGeom>
          <a:solidFill>
            <a:srgbClr val="120404"/>
          </a:solidFill>
          <a:ln/>
        </p:spPr>
      </p:sp>
      <p:sp>
        <p:nvSpPr>
          <p:cNvPr id="16" name="Text 14"/>
          <p:cNvSpPr/>
          <p:nvPr/>
        </p:nvSpPr>
        <p:spPr>
          <a:xfrm>
            <a:off x="3840480" y="1700784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8888"/>
                </a:solidFill>
              </a:rPr>
              <a:t>None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199632" y="1700784"/>
            <a:ext cx="2578608" cy="438912"/>
          </a:xfrm>
          <a:prstGeom prst="rect">
            <a:avLst/>
          </a:prstGeom>
          <a:solidFill>
            <a:srgbClr val="001208"/>
          </a:solidFill>
          <a:ln/>
        </p:spPr>
      </p:sp>
      <p:sp>
        <p:nvSpPr>
          <p:cNvPr id="18" name="Text 16"/>
          <p:cNvSpPr/>
          <p:nvPr/>
        </p:nvSpPr>
        <p:spPr>
          <a:xfrm>
            <a:off x="6309360" y="1700784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0E0A0"/>
                </a:solidFill>
              </a:rPr>
              <a:t>Gemini AI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2139696"/>
            <a:ext cx="3200400" cy="438912"/>
          </a:xfrm>
          <a:prstGeom prst="rect">
            <a:avLst/>
          </a:prstGeom>
          <a:solidFill>
            <a:srgbClr val="152240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2139696"/>
            <a:ext cx="3063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WhatsApp CTAs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730752" y="2139696"/>
            <a:ext cx="2395728" cy="438912"/>
          </a:xfrm>
          <a:prstGeom prst="rect">
            <a:avLst/>
          </a:prstGeom>
          <a:solidFill>
            <a:srgbClr val="1A0505"/>
          </a:solidFill>
          <a:ln/>
        </p:spPr>
      </p:sp>
      <p:sp>
        <p:nvSpPr>
          <p:cNvPr id="22" name="Text 20"/>
          <p:cNvSpPr/>
          <p:nvPr/>
        </p:nvSpPr>
        <p:spPr>
          <a:xfrm>
            <a:off x="3840480" y="2139696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8888"/>
                </a:solidFill>
              </a:rPr>
              <a:t>Phone only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199632" y="2139696"/>
            <a:ext cx="2578608" cy="438912"/>
          </a:xfrm>
          <a:prstGeom prst="rect">
            <a:avLst/>
          </a:prstGeom>
          <a:solidFill>
            <a:srgbClr val="001A10"/>
          </a:solidFill>
          <a:ln/>
        </p:spPr>
      </p:sp>
      <p:sp>
        <p:nvSpPr>
          <p:cNvPr id="24" name="Text 22"/>
          <p:cNvSpPr/>
          <p:nvPr/>
        </p:nvSpPr>
        <p:spPr>
          <a:xfrm>
            <a:off x="6309360" y="2139696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0E0A0"/>
                </a:solidFill>
              </a:rPr>
              <a:t>Deep-links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2578608"/>
            <a:ext cx="3200400" cy="438912"/>
          </a:xfrm>
          <a:prstGeom prst="rect">
            <a:avLst/>
          </a:prstGeom>
          <a:solidFill>
            <a:srgbClr val="0F1E35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" y="2578608"/>
            <a:ext cx="3063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Lead Capture API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730752" y="2578608"/>
            <a:ext cx="2395728" cy="438912"/>
          </a:xfrm>
          <a:prstGeom prst="rect">
            <a:avLst/>
          </a:prstGeom>
          <a:solidFill>
            <a:srgbClr val="120404"/>
          </a:solidFill>
          <a:ln/>
        </p:spPr>
      </p:sp>
      <p:sp>
        <p:nvSpPr>
          <p:cNvPr id="28" name="Text 26"/>
          <p:cNvSpPr/>
          <p:nvPr/>
        </p:nvSpPr>
        <p:spPr>
          <a:xfrm>
            <a:off x="3840480" y="2578608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8888"/>
                </a:solidFill>
              </a:rPr>
              <a:t>None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199632" y="2578608"/>
            <a:ext cx="2578608" cy="438912"/>
          </a:xfrm>
          <a:prstGeom prst="rect">
            <a:avLst/>
          </a:prstGeom>
          <a:solidFill>
            <a:srgbClr val="001208"/>
          </a:solidFill>
          <a:ln/>
        </p:spPr>
      </p:sp>
      <p:sp>
        <p:nvSpPr>
          <p:cNvPr id="30" name="Text 28"/>
          <p:cNvSpPr/>
          <p:nvPr/>
        </p:nvSpPr>
        <p:spPr>
          <a:xfrm>
            <a:off x="6309360" y="2578608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0E0A0"/>
                </a:solidFill>
              </a:rPr>
              <a:t>/api/leads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57200" y="3017520"/>
            <a:ext cx="3200400" cy="438912"/>
          </a:xfrm>
          <a:prstGeom prst="rect">
            <a:avLst/>
          </a:prstGeom>
          <a:solidFill>
            <a:srgbClr val="152240"/>
          </a:solidFill>
          <a:ln/>
        </p:spPr>
      </p:sp>
      <p:sp>
        <p:nvSpPr>
          <p:cNvPr id="32" name="Text 30"/>
          <p:cNvSpPr/>
          <p:nvPr/>
        </p:nvSpPr>
        <p:spPr>
          <a:xfrm>
            <a:off x="594360" y="3017520"/>
            <a:ext cx="3063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Trainer showcase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730752" y="3017520"/>
            <a:ext cx="2395728" cy="438912"/>
          </a:xfrm>
          <a:prstGeom prst="rect">
            <a:avLst/>
          </a:prstGeom>
          <a:solidFill>
            <a:srgbClr val="1A0505"/>
          </a:solidFill>
          <a:ln/>
        </p:spPr>
      </p:sp>
      <p:sp>
        <p:nvSpPr>
          <p:cNvPr id="34" name="Text 32"/>
          <p:cNvSpPr/>
          <p:nvPr/>
        </p:nvSpPr>
        <p:spPr>
          <a:xfrm>
            <a:off x="3840480" y="301752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8888"/>
                </a:solidFill>
              </a:rPr>
              <a:t>Static page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199632" y="3017520"/>
            <a:ext cx="2578608" cy="438912"/>
          </a:xfrm>
          <a:prstGeom prst="rect">
            <a:avLst/>
          </a:prstGeom>
          <a:solidFill>
            <a:srgbClr val="001A10"/>
          </a:solidFill>
          <a:ln/>
        </p:spPr>
      </p:sp>
      <p:sp>
        <p:nvSpPr>
          <p:cNvPr id="36" name="Text 34"/>
          <p:cNvSpPr/>
          <p:nvPr/>
        </p:nvSpPr>
        <p:spPr>
          <a:xfrm>
            <a:off x="6309360" y="301752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0E0A0"/>
                </a:solidFill>
              </a:rPr>
              <a:t>Interactive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57200" y="3456432"/>
            <a:ext cx="3200400" cy="438912"/>
          </a:xfrm>
          <a:prstGeom prst="rect">
            <a:avLst/>
          </a:prstGeom>
          <a:solidFill>
            <a:srgbClr val="0F1E35"/>
          </a:solidFill>
          <a:ln/>
        </p:spPr>
      </p:sp>
      <p:sp>
        <p:nvSpPr>
          <p:cNvPr id="38" name="Text 36"/>
          <p:cNvSpPr/>
          <p:nvPr/>
        </p:nvSpPr>
        <p:spPr>
          <a:xfrm>
            <a:off x="594360" y="3456432"/>
            <a:ext cx="3063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Schedule intelligence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3730752" y="3456432"/>
            <a:ext cx="2395728" cy="438912"/>
          </a:xfrm>
          <a:prstGeom prst="rect">
            <a:avLst/>
          </a:prstGeom>
          <a:solidFill>
            <a:srgbClr val="120404"/>
          </a:solidFill>
          <a:ln/>
        </p:spPr>
      </p:sp>
      <p:sp>
        <p:nvSpPr>
          <p:cNvPr id="40" name="Text 38"/>
          <p:cNvSpPr/>
          <p:nvPr/>
        </p:nvSpPr>
        <p:spPr>
          <a:xfrm>
            <a:off x="3840480" y="3456432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8888"/>
                </a:solidFill>
              </a:rPr>
              <a:t>None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199632" y="3456432"/>
            <a:ext cx="2578608" cy="438912"/>
          </a:xfrm>
          <a:prstGeom prst="rect">
            <a:avLst/>
          </a:prstGeom>
          <a:solidFill>
            <a:srgbClr val="001208"/>
          </a:solidFill>
          <a:ln/>
        </p:spPr>
      </p:sp>
      <p:sp>
        <p:nvSpPr>
          <p:cNvPr id="42" name="Text 40"/>
          <p:cNvSpPr/>
          <p:nvPr/>
        </p:nvSpPr>
        <p:spPr>
          <a:xfrm>
            <a:off x="6309360" y="3456432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0E0A0"/>
                </a:solidFill>
              </a:rPr>
              <a:t>Crowd AI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57200" y="3895344"/>
            <a:ext cx="3200400" cy="438912"/>
          </a:xfrm>
          <a:prstGeom prst="rect">
            <a:avLst/>
          </a:prstGeom>
          <a:solidFill>
            <a:srgbClr val="152240"/>
          </a:solidFill>
          <a:ln/>
        </p:spPr>
      </p:sp>
      <p:sp>
        <p:nvSpPr>
          <p:cNvPr id="44" name="Text 42"/>
          <p:cNvSpPr/>
          <p:nvPr/>
        </p:nvSpPr>
        <p:spPr>
          <a:xfrm>
            <a:off x="594360" y="3895344"/>
            <a:ext cx="3063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Pricing flexibility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3730752" y="3895344"/>
            <a:ext cx="2395728" cy="438912"/>
          </a:xfrm>
          <a:prstGeom prst="rect">
            <a:avLst/>
          </a:prstGeom>
          <a:solidFill>
            <a:srgbClr val="1A0505"/>
          </a:solidFill>
          <a:ln/>
        </p:spPr>
      </p:sp>
      <p:sp>
        <p:nvSpPr>
          <p:cNvPr id="46" name="Text 44"/>
          <p:cNvSpPr/>
          <p:nvPr/>
        </p:nvSpPr>
        <p:spPr>
          <a:xfrm>
            <a:off x="3840480" y="3895344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8888"/>
                </a:solidFill>
              </a:rPr>
              <a:t>Fixed tiers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6199632" y="3895344"/>
            <a:ext cx="2578608" cy="438912"/>
          </a:xfrm>
          <a:prstGeom prst="rect">
            <a:avLst/>
          </a:prstGeom>
          <a:solidFill>
            <a:srgbClr val="001A10"/>
          </a:solidFill>
          <a:ln/>
        </p:spPr>
      </p:sp>
      <p:sp>
        <p:nvSpPr>
          <p:cNvPr id="48" name="Text 46"/>
          <p:cNvSpPr/>
          <p:nvPr/>
        </p:nvSpPr>
        <p:spPr>
          <a:xfrm>
            <a:off x="6309360" y="3895344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0E0A0"/>
                </a:solidFill>
              </a:rPr>
              <a:t>3×3 matrix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457200" y="4334256"/>
            <a:ext cx="3200400" cy="438912"/>
          </a:xfrm>
          <a:prstGeom prst="rect">
            <a:avLst/>
          </a:prstGeom>
          <a:solidFill>
            <a:srgbClr val="0F1E35"/>
          </a:solidFill>
          <a:ln/>
        </p:spPr>
      </p:sp>
      <p:sp>
        <p:nvSpPr>
          <p:cNvPr id="50" name="Text 48"/>
          <p:cNvSpPr/>
          <p:nvPr/>
        </p:nvSpPr>
        <p:spPr>
          <a:xfrm>
            <a:off x="594360" y="4334256"/>
            <a:ext cx="3063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Mobile-ready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3730752" y="4334256"/>
            <a:ext cx="2395728" cy="438912"/>
          </a:xfrm>
          <a:prstGeom prst="rect">
            <a:avLst/>
          </a:prstGeom>
          <a:solidFill>
            <a:srgbClr val="120404"/>
          </a:solidFill>
          <a:ln/>
        </p:spPr>
      </p:sp>
      <p:sp>
        <p:nvSpPr>
          <p:cNvPr id="52" name="Text 50"/>
          <p:cNvSpPr/>
          <p:nvPr/>
        </p:nvSpPr>
        <p:spPr>
          <a:xfrm>
            <a:off x="3840480" y="4334256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8888"/>
                </a:solidFill>
              </a:rPr>
              <a:t>Responsive only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6199632" y="4334256"/>
            <a:ext cx="2578608" cy="438912"/>
          </a:xfrm>
          <a:prstGeom prst="rect">
            <a:avLst/>
          </a:prstGeom>
          <a:solidFill>
            <a:srgbClr val="001208"/>
          </a:solidFill>
          <a:ln/>
        </p:spPr>
      </p:sp>
      <p:sp>
        <p:nvSpPr>
          <p:cNvPr id="54" name="Text 52"/>
          <p:cNvSpPr/>
          <p:nvPr/>
        </p:nvSpPr>
        <p:spPr>
          <a:xfrm>
            <a:off x="6309360" y="4334256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0E0A0"/>
                </a:solidFill>
              </a:rPr>
              <a:t>App roadmap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457200" y="1700784"/>
            <a:ext cx="8321040" cy="27432"/>
          </a:xfrm>
          <a:prstGeom prst="rect">
            <a:avLst/>
          </a:prstGeom>
          <a:solidFill>
            <a:srgbClr val="F59E0B">
              <a:alpha val="40000"/>
            </a:srgbClr>
          </a:solidFill>
          <a:ln/>
        </p:spPr>
      </p:sp>
      <p:sp>
        <p:nvSpPr>
          <p:cNvPr id="56" name="Text 54"/>
          <p:cNvSpPr/>
          <p:nvPr/>
        </p:nvSpPr>
        <p:spPr>
          <a:xfrm>
            <a:off x="457200" y="480974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4A3B8"/>
                </a:solidFill>
              </a:rPr>
              <a:t>Fitness Hub is purpose-built for conversion — not just a brochure website.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6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5029200" y="914400"/>
            <a:ext cx="9144000" cy="9144000"/>
          </a:xfrm>
          <a:prstGeom prst="ellipse">
            <a:avLst/>
          </a:prstGeom>
          <a:solidFill>
            <a:srgbClr val="3B82F6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971800" y="2971800"/>
            <a:ext cx="5029200" cy="5029200"/>
          </a:xfrm>
          <a:prstGeom prst="ellipse">
            <a:avLst/>
          </a:prstGeom>
          <a:solidFill>
            <a:srgbClr val="3B82F6">
              <a:alpha val="6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943600" y="-3657600"/>
            <a:ext cx="7315200" cy="7315200"/>
          </a:xfrm>
          <a:prstGeom prst="ellipse">
            <a:avLst/>
          </a:prstGeom>
          <a:solidFill>
            <a:srgbClr val="F59E0B">
              <a:alpha val="1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589520" y="-2011680"/>
            <a:ext cx="4023360" cy="4023360"/>
          </a:xfrm>
          <a:prstGeom prst="ellipse">
            <a:avLst/>
          </a:prstGeom>
          <a:solidFill>
            <a:srgbClr val="F59E0B">
              <a:alpha val="6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371600" y="-457200"/>
            <a:ext cx="6400800" cy="6400800"/>
          </a:xfrm>
          <a:prstGeom prst="ellipse">
            <a:avLst/>
          </a:prstGeom>
          <a:solidFill>
            <a:srgbClr val="3B82F6">
              <a:alpha val="12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2811780" y="982980"/>
            <a:ext cx="3520440" cy="3520440"/>
          </a:xfrm>
          <a:prstGeom prst="ellipse">
            <a:avLst/>
          </a:prstGeom>
          <a:solidFill>
            <a:srgbClr val="3B82F6">
              <a:alpha val="6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alphaModFix amt="88000"/>
          </a:blip>
          <a:stretch>
            <a:fillRect/>
          </a:stretch>
        </p:blipFill>
        <p:spPr>
          <a:xfrm>
            <a:off x="3657600" y="457200"/>
            <a:ext cx="1828800" cy="18288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57200" y="228600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Ready to see it live?</a:t>
            </a:r>
            <a:endParaRPr lang="en-US" sz="4400" dirty="0"/>
          </a:p>
        </p:txBody>
      </p:sp>
      <p:sp>
        <p:nvSpPr>
          <p:cNvPr id="11" name="Text 8"/>
          <p:cNvSpPr/>
          <p:nvPr/>
        </p:nvSpPr>
        <p:spPr>
          <a:xfrm>
            <a:off x="1097280" y="3127248"/>
            <a:ext cx="6949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Book a 20-minute demo or request access to explore the platform end-to-end.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2011680" y="3703320"/>
            <a:ext cx="2377440" cy="512064"/>
          </a:xfrm>
          <a:prstGeom prst="rect">
            <a:avLst>
              <a:gd name="adj" fmla="val 17857"/>
            </a:avLst>
          </a:prstGeom>
          <a:solidFill>
            <a:srgbClr val="F59E0B"/>
          </a:solidFill>
          <a:ln/>
          <a:effectLst>
            <a:outerShdw sx="100000" sy="100000" kx="0" ky="0" algn="bl" rotWithShape="0" blurRad="254000" dist="50800" dir="16200000">
              <a:srgbClr val="F59E0B">
                <a:alpha val="3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2011680" y="3703320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0D1A"/>
                </a:solidFill>
              </a:rPr>
              <a:t>Book a Demo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754880" y="3703320"/>
            <a:ext cx="2377440" cy="512064"/>
          </a:xfrm>
          <a:prstGeom prst="rect">
            <a:avLst>
              <a:gd name="adj" fmla="val 17857"/>
            </a:avLst>
          </a:prstGeom>
          <a:solidFill>
            <a:srgbClr val="FFFFFF">
              <a:alpha val="10000"/>
            </a:srgbClr>
          </a:solidFill>
          <a:ln w="15240">
            <a:solidFill>
              <a:srgbClr val="60A5F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54880" y="3703320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View Live Site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Rishav  •  rishavkumarkarn3@gmail.com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F1E35"/>
          </a:solidFill>
          <a:ln/>
        </p:spPr>
      </p:sp>
      <p:sp>
        <p:nvSpPr>
          <p:cNvPr id="18" name="Text 15"/>
          <p:cNvSpPr/>
          <p:nvPr/>
        </p:nvSpPr>
        <p:spPr>
          <a:xfrm>
            <a:off x="457200" y="4846320"/>
            <a:ext cx="8229600" cy="29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080A0"/>
                </a:solidFill>
              </a:rPr>
              <a:t>Fitness Hub  •  Built with Next.js 16 + Google Gemini AI  •  Vercel-deployed  •  March 2026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Fitness Hub — Premium Client Presentation</dc:title>
  <dc:subject>PptxGenJS Presentation</dc:subject>
  <dc:creator>Rishav</dc:creator>
  <cp:lastModifiedBy>Rishav</cp:lastModifiedBy>
  <cp:revision>1</cp:revision>
  <dcterms:created xsi:type="dcterms:W3CDTF">2026-03-09T16:09:00Z</dcterms:created>
  <dcterms:modified xsi:type="dcterms:W3CDTF">2026-03-09T16:09:00Z</dcterms:modified>
</cp:coreProperties>
</file>